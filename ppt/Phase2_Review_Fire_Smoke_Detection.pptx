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6040f5a-ff9e-7fe7-b1df-86d989520288}">
          <p14:sldIdLst>
            <p14:sldId id="256"/>
          </p14:sldIdLst>
        </p14:section>
        <p14:section name="1. Introduction" id="{3d8b56f8-513a-c709-f9cc-417f649648eb}">
          <p14:sldIdLst>
            <p14:sldId id="257"/>
            <p14:sldId id="258"/>
            <p14:sldId id="259"/>
            <p14:sldId id="260"/>
          </p14:sldIdLst>
        </p14:section>
        <p14:section name="2. Problem Statement" id="{41ce00a2-7cc7-d357-89b6-6defc6d36070}">
          <p14:sldIdLst>
            <p14:sldId id="261"/>
            <p14:sldId id="262"/>
          </p14:sldIdLst>
        </p14:section>
        <p14:section name="3. Literature Survey" id="{f03644a1-da85-2c28-659c-dae33b210f89}">
          <p14:sldIdLst>
            <p14:sldId id="263"/>
            <p14:sldId id="264"/>
            <p14:sldId id="265"/>
          </p14:sldIdLst>
        </p14:section>
        <p14:section name="4. System Requirements" id="{21efea2d-2855-29bf-52fe-dfc124e7436e}">
          <p14:sldIdLst>
            <p14:sldId id="266"/>
            <p14:sldId id="267"/>
            <p14:sldId id="268"/>
          </p14:sldIdLst>
        </p14:section>
        <p14:section name="5. System Design" id="{155bbbce-51b4-43db-4a22-6a4680e93b86}">
          <p14:sldIdLst>
            <p14:sldId id="269"/>
            <p14:sldId id="270"/>
            <p14:sldId id="271"/>
            <p14:sldId id="272"/>
          </p14:sldIdLst>
        </p14:section>
        <p14:section name="6. Implementation and Demonstration" id="{2c317b07-e1c6-3953-4450-ea146e8e8a91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7. Paper Status" id="{7d86152a-4f32-2be3-e6e7-eaf583c2d657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AI-Enabled Fire/Smoke Detection · Phase-2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-emoji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AI-Enabled Fire/Smoke Detection and Automated Emergency Response System</a:t>
            </a:r>
            <a:endParaRPr lang="en-US" sz="32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2834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Using Deep Learning and IoT  ·  Phase-2 Project Review</a:t>
            </a:r>
            <a:endParaRPr lang="en-US" sz="1600" dirty="0"/>
          </a:p>
        </p:txBody>
      </p:sp>
      <p:sp>
        <p:nvSpPr>
          <p:cNvPr id="6" name="authors"/>
          <p:cNvSpPr txBox="1"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M R Varun  ·  M H Mayur Gowda  ·  Kedar Lokesh Vandith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Guides: Dr. Janhavi V  ·  Dr. Ayesha Taranum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Department of Computer Science and Engineering, Vidyavardhaka College of Engineering, Mysuru</a:t>
            </a:r>
            <a:endParaRPr lang="en-US" sz="13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-circle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num"/>
          <p:cNvSpPr txBox="1"/>
          <p:nvPr/>
        </p:nvSpPr>
        <p:spPr>
          <a:xfrm>
            <a:off x="548640" y="640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Background and motivation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Fire is a leading cause of property loss and casualties; the gap between ignition and human detection drives escalation.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Point-type smoke/heat sensors are slow in open or high-ceiling spaces and cannot localise an event.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CCTV is already installed almost everywhere, but humans cannot watch feeds reliably over long shifts.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Deep learning (YOLO family) now runs in real time on commodity hardware — the camera itself can become the detector.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Detection alone is not safety: alerts need confirmation, evidence, logging and a monitoring interface.</a:t>
            </a:r>
            <a:endParaRPr lang="en-US" sz="1400" dirty="0"/>
          </a:p>
        </p:txBody>
      </p:sp>
      <p:sp>
        <p:nvSpPr>
          <p:cNvPr id="4" name="stat-typical delay that decides escalation"/>
          <p:cNvSpPr txBox="1"/>
          <p:nvPr/>
        </p:nvSpPr>
        <p:spPr>
          <a:xfrm>
            <a:off x="5760720" y="1371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seconds</a:t>
            </a:r>
            <a:endParaRPr lang="en-US" sz="4000" dirty="0"/>
          </a:p>
        </p:txBody>
      </p:sp>
      <p:sp>
        <p:nvSpPr>
          <p:cNvPr id="5" name="stat-label-typical delay that decides escalation"/>
          <p:cNvSpPr txBox="1"/>
          <p:nvPr/>
        </p:nvSpPr>
        <p:spPr>
          <a:xfrm>
            <a:off x="57607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typical delay that decides escalation</a:t>
            </a:r>
            <a:endParaRPr lang="en-US" sz="1100" dirty="0"/>
          </a:p>
        </p:txBody>
      </p:sp>
      <p:sp>
        <p:nvSpPr>
          <p:cNvPr id="6" name="stat-cameras reused: no new sensors needed for vision"/>
          <p:cNvSpPr txBox="1"/>
          <p:nvPr/>
        </p:nvSpPr>
        <p:spPr>
          <a:xfrm>
            <a:off x="576072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 → 1</a:t>
            </a:r>
            <a:endParaRPr lang="en-US" sz="4000" dirty="0"/>
          </a:p>
        </p:txBody>
      </p:sp>
      <p:sp>
        <p:nvSpPr>
          <p:cNvPr id="7" name="stat-label-cameras reused: no new sensors needed for vision"/>
          <p:cNvSpPr txBox="1"/>
          <p:nvPr/>
        </p:nvSpPr>
        <p:spPr>
          <a:xfrm>
            <a:off x="576072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cameras reused: no new sensors needed for vision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Objectives and scope</a:t>
            </a:r>
            <a:endParaRPr lang="en-US" sz="2800" dirty="0"/>
          </a:p>
        </p:txBody>
      </p:sp>
      <p:sp>
        <p:nvSpPr>
          <p:cNvPr id="3" name="card-Real-time detector"/>
          <p:cNvSpPr/>
          <p:nvPr/>
        </p:nvSpPr>
        <p:spPr>
          <a:xfrm>
            <a:off x="45720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num-Real-time detector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ard-numtxt-Real-time detector"/>
          <p:cNvSpPr txBox="1"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-head-Real-time detector"/>
          <p:cNvSpPr txBox="1"/>
          <p:nvPr/>
        </p:nvSpPr>
        <p:spPr>
          <a:xfrm>
            <a:off x="105156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Real-time detector</a:t>
            </a:r>
            <a:endParaRPr lang="en-US" sz="1400" dirty="0"/>
          </a:p>
        </p:txBody>
      </p:sp>
      <p:sp>
        <p:nvSpPr>
          <p:cNvPr id="7" name="card-body-Real-time detector"/>
          <p:cNvSpPr txBox="1"/>
          <p:nvPr/>
        </p:nvSpPr>
        <p:spPr>
          <a:xfrm>
            <a:off x="594360" y="1709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YOLOv11n fire/smoke detector that runs on a laptop CPU, usable with existing CCTV/USB cameras.</a:t>
            </a:r>
            <a:endParaRPr lang="en-US" sz="1150" dirty="0"/>
          </a:p>
        </p:txBody>
      </p:sp>
      <p:sp>
        <p:nvSpPr>
          <p:cNvPr id="8" name="card-Robust dataset"/>
          <p:cNvSpPr/>
          <p:nvPr/>
        </p:nvSpPr>
        <p:spPr>
          <a:xfrm>
            <a:off x="324612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num-Robust dataset"/>
          <p:cNvSpPr/>
          <p:nvPr/>
        </p:nvSpPr>
        <p:spPr>
          <a:xfrm>
            <a:off x="338328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-numtxt-Robust dataset"/>
          <p:cNvSpPr txBox="1"/>
          <p:nvPr/>
        </p:nvSpPr>
        <p:spPr>
          <a:xfrm>
            <a:off x="33832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-head-Robust dataset"/>
          <p:cNvSpPr txBox="1"/>
          <p:nvPr/>
        </p:nvSpPr>
        <p:spPr>
          <a:xfrm>
            <a:off x="384048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Robust dataset</a:t>
            </a:r>
            <a:endParaRPr lang="en-US" sz="1400" dirty="0"/>
          </a:p>
        </p:txBody>
      </p:sp>
      <p:sp>
        <p:nvSpPr>
          <p:cNvPr id="12" name="card-body-Robust dataset"/>
          <p:cNvSpPr txBox="1"/>
          <p:nvPr/>
        </p:nvSpPr>
        <p:spPr>
          <a:xfrm>
            <a:off x="3383280" y="1709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Stratified indoor + outdoor corpus with explicit negatives; augmentation for scale, lighting and scene variation.</a:t>
            </a:r>
            <a:endParaRPr lang="en-US" sz="1150" dirty="0"/>
          </a:p>
        </p:txBody>
      </p:sp>
      <p:sp>
        <p:nvSpPr>
          <p:cNvPr id="13" name="card-Temporal confirmation"/>
          <p:cNvSpPr/>
          <p:nvPr/>
        </p:nvSpPr>
        <p:spPr>
          <a:xfrm>
            <a:off x="603504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-num-Temporal confirmation"/>
          <p:cNvSpPr/>
          <p:nvPr/>
        </p:nvSpPr>
        <p:spPr>
          <a:xfrm>
            <a:off x="617220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-numtxt-Temporal confirmation"/>
          <p:cNvSpPr txBox="1"/>
          <p:nvPr/>
        </p:nvSpPr>
        <p:spPr>
          <a:xfrm>
            <a:off x="61722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-head-Temporal confirmation"/>
          <p:cNvSpPr txBox="1"/>
          <p:nvPr/>
        </p:nvSpPr>
        <p:spPr>
          <a:xfrm>
            <a:off x="662940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Temporal confirmation</a:t>
            </a:r>
            <a:endParaRPr lang="en-US" sz="1400" dirty="0"/>
          </a:p>
        </p:txBody>
      </p:sp>
      <p:sp>
        <p:nvSpPr>
          <p:cNvPr id="17" name="card-body-Temporal confirmation"/>
          <p:cNvSpPr txBox="1"/>
          <p:nvPr/>
        </p:nvSpPr>
        <p:spPr>
          <a:xfrm>
            <a:off x="6172200" y="1709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Convert noisy per-frame boxes into NORMAL → WARNING → CONFIRMED → RECOVERY states; never trigger on one frame.</a:t>
            </a:r>
            <a:endParaRPr lang="en-US" sz="1150" dirty="0"/>
          </a:p>
        </p:txBody>
      </p:sp>
      <p:sp>
        <p:nvSpPr>
          <p:cNvPr id="18" name="card-Alerts and evidence"/>
          <p:cNvSpPr/>
          <p:nvPr/>
        </p:nvSpPr>
        <p:spPr>
          <a:xfrm>
            <a:off x="45720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-num-Alerts and evidence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ard-numtxt-Alerts and evidence"/>
          <p:cNvSpPr txBox="1"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card-head-Alerts and evidence"/>
          <p:cNvSpPr txBox="1"/>
          <p:nvPr/>
        </p:nvSpPr>
        <p:spPr>
          <a:xfrm>
            <a:off x="105156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Alerts and evidence</a:t>
            </a:r>
            <a:endParaRPr lang="en-US" sz="1400" dirty="0"/>
          </a:p>
        </p:txBody>
      </p:sp>
      <p:sp>
        <p:nvSpPr>
          <p:cNvPr id="22" name="card-body-Alerts and evidence"/>
          <p:cNvSpPr txBox="1"/>
          <p:nvPr/>
        </p:nvSpPr>
        <p:spPr>
          <a:xfrm>
            <a:off x="594360" y="3493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Snapshots, event database, buzzer, multi-channel notifications, acknowledgement and emergency stop.</a:t>
            </a:r>
            <a:endParaRPr lang="en-US" sz="1150" dirty="0"/>
          </a:p>
        </p:txBody>
      </p:sp>
      <p:sp>
        <p:nvSpPr>
          <p:cNvPr id="23" name="card-Backend and dashboard"/>
          <p:cNvSpPr/>
          <p:nvPr/>
        </p:nvSpPr>
        <p:spPr>
          <a:xfrm>
            <a:off x="324612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ard-num-Backend and dashboard"/>
          <p:cNvSpPr/>
          <p:nvPr/>
        </p:nvSpPr>
        <p:spPr>
          <a:xfrm>
            <a:off x="338328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card-numtxt-Backend and dashboard"/>
          <p:cNvSpPr txBox="1"/>
          <p:nvPr/>
        </p:nvSpPr>
        <p:spPr>
          <a:xfrm>
            <a:off x="33832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card-head-Backend and dashboard"/>
          <p:cNvSpPr txBox="1"/>
          <p:nvPr/>
        </p:nvSpPr>
        <p:spPr>
          <a:xfrm>
            <a:off x="384048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 and dashboard</a:t>
            </a:r>
            <a:endParaRPr lang="en-US" sz="1400" dirty="0"/>
          </a:p>
        </p:txBody>
      </p:sp>
      <p:sp>
        <p:nvSpPr>
          <p:cNvPr id="27" name="card-body-Backend and dashboard"/>
          <p:cNvSpPr txBox="1"/>
          <p:nvPr/>
        </p:nvSpPr>
        <p:spPr>
          <a:xfrm>
            <a:off x="3383280" y="3493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REST API + SQLite + live web dashboard for monitoring, history and device health.</a:t>
            </a:r>
            <a:endParaRPr lang="en-US" sz="1150" dirty="0"/>
          </a:p>
        </p:txBody>
      </p:sp>
      <p:sp>
        <p:nvSpPr>
          <p:cNvPr id="28" name="card-Evaluation"/>
          <p:cNvSpPr/>
          <p:nvPr/>
        </p:nvSpPr>
        <p:spPr>
          <a:xfrm>
            <a:off x="603504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ard-num-Evaluation"/>
          <p:cNvSpPr/>
          <p:nvPr/>
        </p:nvSpPr>
        <p:spPr>
          <a:xfrm>
            <a:off x="617220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card-numtxt-Evaluation"/>
          <p:cNvSpPr txBox="1"/>
          <p:nvPr/>
        </p:nvSpPr>
        <p:spPr>
          <a:xfrm>
            <a:off x="61722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card-head-Evaluation"/>
          <p:cNvSpPr txBox="1"/>
          <p:nvPr/>
        </p:nvSpPr>
        <p:spPr>
          <a:xfrm>
            <a:off x="662940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32" name="card-body-Evaluation"/>
          <p:cNvSpPr txBox="1"/>
          <p:nvPr/>
        </p:nvSpPr>
        <p:spPr>
          <a:xfrm>
            <a:off x="6172200" y="3493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Precision, recall, F1, mAP, false-alarm rate on negatives, CPU latency; fail-safe integration tests.</a:t>
            </a:r>
            <a:endParaRPr lang="en-US" sz="1150" dirty="0"/>
          </a:p>
        </p:txBody>
      </p:sp>
      <p:sp>
        <p:nvSpPr>
          <p:cNvPr id="33" name="scope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Scope: academic prototype with isolated low-voltage outputs — not certified fire-safety equipment.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Proposed solution and expected outcome</a:t>
            </a:r>
            <a:endParaRPr lang="en-US" sz="2800" dirty="0"/>
          </a:p>
        </p:txBody>
      </p:sp>
      <p:sp>
        <p:nvSpPr>
          <p:cNvPr id="3" name="flow-Camera"/>
          <p:cNvSpPr/>
          <p:nvPr/>
        </p:nvSpPr>
        <p:spPr>
          <a:xfrm>
            <a:off x="457200" y="1280160"/>
            <a:ext cx="9601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lowtxt-Camera"/>
          <p:cNvSpPr txBox="1"/>
          <p:nvPr/>
        </p:nvSpPr>
        <p:spPr>
          <a:xfrm>
            <a:off x="457200" y="1280160"/>
            <a:ext cx="960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Camera</a:t>
            </a:r>
            <a:endParaRPr lang="en-US" sz="1000" dirty="0"/>
          </a:p>
        </p:txBody>
      </p:sp>
      <p:sp>
        <p:nvSpPr>
          <p:cNvPr id="5" name="arrow"/>
          <p:cNvSpPr/>
          <p:nvPr/>
        </p:nvSpPr>
        <p:spPr>
          <a:xfrm>
            <a:off x="1417320" y="1645920"/>
            <a:ext cx="109728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6" name="flow-Dataset"/>
          <p:cNvSpPr/>
          <p:nvPr/>
        </p:nvSpPr>
        <p:spPr>
          <a:xfrm>
            <a:off x="1527048" y="1280160"/>
            <a:ext cx="9601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txt-Dataset"/>
          <p:cNvSpPr txBox="1"/>
          <p:nvPr/>
        </p:nvSpPr>
        <p:spPr>
          <a:xfrm>
            <a:off x="1527048" y="1280160"/>
            <a:ext cx="960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Dataset</a:t>
            </a:r>
            <a:endParaRPr lang="en-US" sz="1000" dirty="0"/>
          </a:p>
        </p:txBody>
      </p:sp>
      <p:sp>
        <p:nvSpPr>
          <p:cNvPr id="8" name="arrow"/>
          <p:cNvSpPr/>
          <p:nvPr/>
        </p:nvSpPr>
        <p:spPr>
          <a:xfrm>
            <a:off x="2487168" y="1645920"/>
            <a:ext cx="109728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9" name="flow-YOLO detector"/>
          <p:cNvSpPr/>
          <p:nvPr/>
        </p:nvSpPr>
        <p:spPr>
          <a:xfrm>
            <a:off x="2596896" y="1280160"/>
            <a:ext cx="9601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lowtxt-YOLO detector"/>
          <p:cNvSpPr txBox="1"/>
          <p:nvPr/>
        </p:nvSpPr>
        <p:spPr>
          <a:xfrm>
            <a:off x="2596896" y="1280160"/>
            <a:ext cx="960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YOLO detector</a:t>
            </a:r>
            <a:endParaRPr lang="en-US" sz="1000" dirty="0"/>
          </a:p>
        </p:txBody>
      </p:sp>
      <p:sp>
        <p:nvSpPr>
          <p:cNvPr id="11" name="arrow"/>
          <p:cNvSpPr/>
          <p:nvPr/>
        </p:nvSpPr>
        <p:spPr>
          <a:xfrm>
            <a:off x="3557016" y="1645920"/>
            <a:ext cx="109728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12" name="flow-Real-time inference"/>
          <p:cNvSpPr/>
          <p:nvPr/>
        </p:nvSpPr>
        <p:spPr>
          <a:xfrm>
            <a:off x="3666744" y="1280160"/>
            <a:ext cx="9601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lowtxt-Real-time inference"/>
          <p:cNvSpPr txBox="1"/>
          <p:nvPr/>
        </p:nvSpPr>
        <p:spPr>
          <a:xfrm>
            <a:off x="3666744" y="1280160"/>
            <a:ext cx="960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Real-time inference</a:t>
            </a:r>
            <a:endParaRPr lang="en-US" sz="1000" dirty="0"/>
          </a:p>
        </p:txBody>
      </p:sp>
      <p:sp>
        <p:nvSpPr>
          <p:cNvPr id="14" name="arrow"/>
          <p:cNvSpPr/>
          <p:nvPr/>
        </p:nvSpPr>
        <p:spPr>
          <a:xfrm>
            <a:off x="4626864" y="1645920"/>
            <a:ext cx="109728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15" name="flow-Decision engine"/>
          <p:cNvSpPr/>
          <p:nvPr/>
        </p:nvSpPr>
        <p:spPr>
          <a:xfrm>
            <a:off x="4736592" y="1280160"/>
            <a:ext cx="960120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flowtxt-Decision engine"/>
          <p:cNvSpPr txBox="1"/>
          <p:nvPr/>
        </p:nvSpPr>
        <p:spPr>
          <a:xfrm>
            <a:off x="4736592" y="1280160"/>
            <a:ext cx="960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Decision engine</a:t>
            </a:r>
            <a:endParaRPr lang="en-US" sz="1000" dirty="0"/>
          </a:p>
        </p:txBody>
      </p:sp>
      <p:sp>
        <p:nvSpPr>
          <p:cNvPr id="17" name="arrow"/>
          <p:cNvSpPr/>
          <p:nvPr/>
        </p:nvSpPr>
        <p:spPr>
          <a:xfrm>
            <a:off x="5696712" y="1645920"/>
            <a:ext cx="109728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18" name="flow-IoT verification"/>
          <p:cNvSpPr/>
          <p:nvPr/>
        </p:nvSpPr>
        <p:spPr>
          <a:xfrm>
            <a:off x="5806440" y="1280160"/>
            <a:ext cx="9601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lowtxt-IoT verification"/>
          <p:cNvSpPr txBox="1"/>
          <p:nvPr/>
        </p:nvSpPr>
        <p:spPr>
          <a:xfrm>
            <a:off x="5806440" y="1280160"/>
            <a:ext cx="960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IoT verification</a:t>
            </a:r>
            <a:endParaRPr lang="en-US" sz="1000" dirty="0"/>
          </a:p>
        </p:txBody>
      </p:sp>
      <p:sp>
        <p:nvSpPr>
          <p:cNvPr id="20" name="arrow"/>
          <p:cNvSpPr/>
          <p:nvPr/>
        </p:nvSpPr>
        <p:spPr>
          <a:xfrm>
            <a:off x="6766560" y="1645920"/>
            <a:ext cx="109728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1" name="flow-Alerts / response"/>
          <p:cNvSpPr/>
          <p:nvPr/>
        </p:nvSpPr>
        <p:spPr>
          <a:xfrm>
            <a:off x="6876288" y="1280160"/>
            <a:ext cx="9601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txt-Alerts / response"/>
          <p:cNvSpPr txBox="1"/>
          <p:nvPr/>
        </p:nvSpPr>
        <p:spPr>
          <a:xfrm>
            <a:off x="6876288" y="1280160"/>
            <a:ext cx="960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Alerts / response</a:t>
            </a:r>
            <a:endParaRPr lang="en-US" sz="1000" dirty="0"/>
          </a:p>
        </p:txBody>
      </p:sp>
      <p:sp>
        <p:nvSpPr>
          <p:cNvPr id="23" name="arrow"/>
          <p:cNvSpPr/>
          <p:nvPr/>
        </p:nvSpPr>
        <p:spPr>
          <a:xfrm>
            <a:off x="7836408" y="1645920"/>
            <a:ext cx="109728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4" name="flow-Dashboard"/>
          <p:cNvSpPr/>
          <p:nvPr/>
        </p:nvSpPr>
        <p:spPr>
          <a:xfrm>
            <a:off x="7946136" y="1280160"/>
            <a:ext cx="96012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flowtxt-Dashboard"/>
          <p:cNvSpPr txBox="1"/>
          <p:nvPr/>
        </p:nvSpPr>
        <p:spPr>
          <a:xfrm>
            <a:off x="7946136" y="1280160"/>
            <a:ext cx="960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6" name="card-What we build"/>
          <p:cNvSpPr/>
          <p:nvPr/>
        </p:nvSpPr>
        <p:spPr>
          <a:xfrm>
            <a:off x="457200" y="237744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card-head-What we build"/>
          <p:cNvSpPr txBox="1"/>
          <p:nvPr/>
        </p:nvSpPr>
        <p:spPr>
          <a:xfrm>
            <a:off x="594360" y="24871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we build</a:t>
            </a:r>
            <a:endParaRPr lang="en-US" sz="1400" dirty="0"/>
          </a:p>
        </p:txBody>
      </p:sp>
      <p:sp>
        <p:nvSpPr>
          <p:cNvPr id="28" name="card-body-What we build"/>
          <p:cNvSpPr txBox="1"/>
          <p:nvPr/>
        </p:nvSpPr>
        <p:spPr>
          <a:xfrm>
            <a:off x="594360" y="294436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Vision-first detection on existing cameras · temporal confirmation with hysteresis · optional ESP32 gas/temperature fusion · evidence + events + notifications · live dashboard with acknowledge and emergency stop.</a:t>
            </a:r>
            <a:endParaRPr lang="en-US" sz="1250" dirty="0"/>
          </a:p>
        </p:txBody>
      </p:sp>
      <p:sp>
        <p:nvSpPr>
          <p:cNvPr id="29" name="card-Expected outcome"/>
          <p:cNvSpPr/>
          <p:nvPr/>
        </p:nvSpPr>
        <p:spPr>
          <a:xfrm>
            <a:off x="4663440" y="237744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ard-head-Expected outcome"/>
          <p:cNvSpPr txBox="1"/>
          <p:nvPr/>
        </p:nvSpPr>
        <p:spPr>
          <a:xfrm>
            <a:off x="4800600" y="24871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Expected outcome</a:t>
            </a:r>
            <a:endParaRPr lang="en-US" sz="1400" dirty="0"/>
          </a:p>
        </p:txBody>
      </p:sp>
      <p:sp>
        <p:nvSpPr>
          <p:cNvPr id="31" name="card-body-Expected outcome"/>
          <p:cNvSpPr txBox="1"/>
          <p:nvPr/>
        </p:nvSpPr>
        <p:spPr>
          <a:xfrm>
            <a:off x="4800600" y="294436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Alert within seconds of a sustained flame/smoke, far fewer false alarms than single-frame or colour-rule detectors, a complete audit trail (who acknowledged, when, with evidence), and a reproducible model build with documented metrics.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-circle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num"/>
          <p:cNvSpPr txBox="1"/>
          <p:nvPr/>
        </p:nvSpPr>
        <p:spPr>
          <a:xfrm>
            <a:off x="548640" y="640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 definition and existing gaps</a:t>
            </a:r>
            <a:endParaRPr lang="en-US" sz="2800" dirty="0"/>
          </a:p>
        </p:txBody>
      </p:sp>
      <p:sp>
        <p:nvSpPr>
          <p:cNvPr id="3" name="card-Problem"/>
          <p:cNvSpPr/>
          <p:nvPr/>
        </p:nvSpPr>
        <p:spPr>
          <a:xfrm>
            <a:off x="457200" y="114300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ard-head-Problem"/>
          <p:cNvSpPr txBox="1"/>
          <p:nvPr/>
        </p:nvSpPr>
        <p:spPr>
          <a:xfrm>
            <a:off x="594360" y="12527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Problem</a:t>
            </a:r>
            <a:endParaRPr lang="en-US" sz="1400" dirty="0"/>
          </a:p>
        </p:txBody>
      </p:sp>
      <p:sp>
        <p:nvSpPr>
          <p:cNvPr id="5" name="card-body-Problem"/>
          <p:cNvSpPr txBox="1"/>
          <p:nvPr/>
        </p:nvSpPr>
        <p:spPr>
          <a:xfrm>
            <a:off x="594360" y="17099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Build a system that is simultaneously accurate on real CCTV-like footage, fast enough for live streams on commodity hardware, and embedded in a complete confirmation–alerting–monitoring pipeline.</a:t>
            </a:r>
            <a:endParaRPr lang="en-US" sz="1300" dirty="0"/>
          </a:p>
        </p:txBody>
      </p:sp>
      <p:sp>
        <p:nvSpPr>
          <p:cNvPr id="6" name="card-Benchmark ≠ field"/>
          <p:cNvSpPr/>
          <p:nvPr/>
        </p:nvSpPr>
        <p:spPr>
          <a:xfrm>
            <a:off x="457200" y="233172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-num-Benchmark ≠ field"/>
          <p:cNvSpPr/>
          <p:nvPr/>
        </p:nvSpPr>
        <p:spPr>
          <a:xfrm>
            <a:off x="594360" y="2468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-numtxt-Benchmark ≠ field"/>
          <p:cNvSpPr txBox="1"/>
          <p:nvPr/>
        </p:nvSpPr>
        <p:spPr>
          <a:xfrm>
            <a:off x="5943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card-head-Benchmark ≠ field"/>
          <p:cNvSpPr txBox="1"/>
          <p:nvPr/>
        </p:nvSpPr>
        <p:spPr>
          <a:xfrm>
            <a:off x="1051560" y="24414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Benchmark ≠ field</a:t>
            </a:r>
            <a:endParaRPr lang="en-US" sz="1400" dirty="0"/>
          </a:p>
        </p:txBody>
      </p:sp>
      <p:sp>
        <p:nvSpPr>
          <p:cNvPr id="10" name="card-body-Benchmark ≠ field"/>
          <p:cNvSpPr txBox="1"/>
          <p:nvPr/>
        </p:nvSpPr>
        <p:spPr>
          <a:xfrm>
            <a:off x="594360" y="2898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Published detectors are evaluated on curated images, not noisy, variably lit multi-angle CCTV — accuracy does not transfer.</a:t>
            </a:r>
            <a:endParaRPr lang="en-US" sz="1100" dirty="0"/>
          </a:p>
        </p:txBody>
      </p:sp>
      <p:sp>
        <p:nvSpPr>
          <p:cNvPr id="11" name="card-Accuracy vs latency"/>
          <p:cNvSpPr/>
          <p:nvPr/>
        </p:nvSpPr>
        <p:spPr>
          <a:xfrm>
            <a:off x="3246120" y="233172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ard-num-Accuracy vs latency"/>
          <p:cNvSpPr/>
          <p:nvPr/>
        </p:nvSpPr>
        <p:spPr>
          <a:xfrm>
            <a:off x="3383280" y="2468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ard-numtxt-Accuracy vs latency"/>
          <p:cNvSpPr txBox="1"/>
          <p:nvPr/>
        </p:nvSpPr>
        <p:spPr>
          <a:xfrm>
            <a:off x="33832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card-head-Accuracy vs latency"/>
          <p:cNvSpPr txBox="1"/>
          <p:nvPr/>
        </p:nvSpPr>
        <p:spPr>
          <a:xfrm>
            <a:off x="3840480" y="24414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Accuracy vs latency</a:t>
            </a:r>
            <a:endParaRPr lang="en-US" sz="1400" dirty="0"/>
          </a:p>
        </p:txBody>
      </p:sp>
      <p:sp>
        <p:nvSpPr>
          <p:cNvPr id="15" name="card-body-Accuracy vs latency"/>
          <p:cNvSpPr txBox="1"/>
          <p:nvPr/>
        </p:nvSpPr>
        <p:spPr>
          <a:xfrm>
            <a:off x="3383280" y="2898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Deeper nets and Transformer blocks gain accuracy at a latency cost that is unacceptable when seconds matter.</a:t>
            </a:r>
            <a:endParaRPr lang="en-US" sz="1100" dirty="0"/>
          </a:p>
        </p:txBody>
      </p:sp>
      <p:sp>
        <p:nvSpPr>
          <p:cNvPr id="16" name="card-Detection ≠ safety"/>
          <p:cNvSpPr/>
          <p:nvPr/>
        </p:nvSpPr>
        <p:spPr>
          <a:xfrm>
            <a:off x="6035040" y="233172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rd-num-Detection ≠ safety"/>
          <p:cNvSpPr/>
          <p:nvPr/>
        </p:nvSpPr>
        <p:spPr>
          <a:xfrm>
            <a:off x="6172200" y="2468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ard-numtxt-Detection ≠ safety"/>
          <p:cNvSpPr txBox="1"/>
          <p:nvPr/>
        </p:nvSpPr>
        <p:spPr>
          <a:xfrm>
            <a:off x="61722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card-head-Detection ≠ safety"/>
          <p:cNvSpPr txBox="1"/>
          <p:nvPr/>
        </p:nvSpPr>
        <p:spPr>
          <a:xfrm>
            <a:off x="6629400" y="24414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Detection ≠ safety</a:t>
            </a:r>
            <a:endParaRPr lang="en-US" sz="1400" dirty="0"/>
          </a:p>
        </p:txBody>
      </p:sp>
      <p:sp>
        <p:nvSpPr>
          <p:cNvPr id="20" name="card-body-Detection ≠ safety"/>
          <p:cNvSpPr txBox="1"/>
          <p:nvPr/>
        </p:nvSpPr>
        <p:spPr>
          <a:xfrm>
            <a:off x="6172200" y="2898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raw bounding box cannot be operationalised without temporal confirmation, alerting, evidence and logging.</a:t>
            </a:r>
            <a:endParaRPr lang="en-US" sz="1100" dirty="0"/>
          </a:p>
        </p:txBody>
      </p:sp>
      <p:sp>
        <p:nvSpPr>
          <p:cNvPr id="21" name="card-Our approach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ard-head-Our approach"/>
          <p:cNvSpPr txBox="1"/>
          <p:nvPr/>
        </p:nvSpPr>
        <p:spPr>
          <a:xfrm>
            <a:off x="594360" y="38496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approach</a:t>
            </a:r>
            <a:endParaRPr lang="en-US" sz="1400" dirty="0"/>
          </a:p>
        </p:txBody>
      </p:sp>
      <p:sp>
        <p:nvSpPr>
          <p:cNvPr id="23" name="card-body-Our approach"/>
          <p:cNvSpPr txBox="1"/>
          <p:nvPr/>
        </p:nvSpPr>
        <p:spPr>
          <a:xfrm>
            <a:off x="594360" y="4142232"/>
            <a:ext cx="7955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Lightweight YOLOv11n fine-tuned on a stratified corpus with hard negatives  →  time-windowed state machine with separate enter/clear thresholds  →  IoT fusion  →  evidence, API, dashboard, fail-safes.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-circle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num"/>
          <p:cNvSpPr txBox="1"/>
          <p:nvPr/>
        </p:nvSpPr>
        <p:spPr>
          <a:xfrm>
            <a:off x="548640" y="640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Literature Survey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Review of relevant research</a:t>
            </a:r>
            <a:endParaRPr lang="en-US" sz="2800" dirty="0"/>
          </a:p>
        </p:txBody>
      </p:sp>
      <p:graphicFrame>
        <p:nvGraphicFramePr>
          <p:cNvPr id="10" name="li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468880"/>
                <a:gridCol w="7315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Core technique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YOLOv8/v7 fine-tuned (Saleh et al.)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single-stage detector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wildfire smoke, flame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Improved YOLOv8s (Kong et al.)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light backbone + attention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coal-mine fire/smoke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Improved YOLOv5s (Dou et al.)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feature-fusion refinement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general fire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FS-YOLO (Wang et al.)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joint fire–smoke head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fire and smoke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YOLOv11 (Khanam &amp; Hussain)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C3k2, SPPF, C2PSA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general detection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Shallow guide deep net (Li et al.)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lightweight CNN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early-stage fire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Fire-ViT (Liu &amp; Mariano)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Vision Transformer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2025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tunnel fire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CN2VF-Net / FireNet-KD (Ahmad et al.)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hybrid CNN–ViT, distillation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2025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complex scenes, wildfire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SmokeSeger (Jing et al.)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Transformer–CNN segmentation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urban smoke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CAS-ViT (Zhang et al.)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additive self-attention ViT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mobile vision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Comparison of methods and research gap</a:t>
            </a:r>
            <a:endParaRPr lang="en-US" sz="2800" dirty="0"/>
          </a:p>
        </p:txBody>
      </p:sp>
      <p:sp>
        <p:nvSpPr>
          <p:cNvPr id="3" name="card-Two-stage (Faster R-CNN)"/>
          <p:cNvSpPr/>
          <p:nvPr/>
        </p:nvSpPr>
        <p:spPr>
          <a:xfrm>
            <a:off x="457200" y="1143000"/>
            <a:ext cx="4846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head-Two-stage (Faster R-CNN)"/>
          <p:cNvSpPr txBox="1"/>
          <p:nvPr/>
        </p:nvSpPr>
        <p:spPr>
          <a:xfrm>
            <a:off x="594360" y="1197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Two-stage (Faster R-CNN)</a:t>
            </a:r>
            <a:endParaRPr lang="en-US" sz="1200" dirty="0"/>
          </a:p>
        </p:txBody>
      </p:sp>
      <p:sp>
        <p:nvSpPr>
          <p:cNvPr id="5" name="card-body-Two-stage (Faster R-CNN)"/>
          <p:cNvSpPr txBox="1"/>
          <p:nvPr/>
        </p:nvSpPr>
        <p:spPr>
          <a:xfrm>
            <a:off x="594360" y="149047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Highest localisation accuracy, but 5–17 fps: too slow for multi-camera live monitoring.</a:t>
            </a:r>
            <a:endParaRPr lang="en-US" sz="1050" dirty="0"/>
          </a:p>
        </p:txBody>
      </p:sp>
      <p:sp>
        <p:nvSpPr>
          <p:cNvPr id="6" name="card-SSD / classic CNN classifiers"/>
          <p:cNvSpPr/>
          <p:nvPr/>
        </p:nvSpPr>
        <p:spPr>
          <a:xfrm>
            <a:off x="457200" y="2039112"/>
            <a:ext cx="4846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-head-SSD / classic CNN classifiers"/>
          <p:cNvSpPr txBox="1"/>
          <p:nvPr/>
        </p:nvSpPr>
        <p:spPr>
          <a:xfrm>
            <a:off x="594360" y="2093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SSD / classic CNN classifiers</a:t>
            </a:r>
            <a:endParaRPr lang="en-US" sz="1200" dirty="0"/>
          </a:p>
        </p:txBody>
      </p:sp>
      <p:sp>
        <p:nvSpPr>
          <p:cNvPr id="8" name="card-body-SSD / classic CNN classifiers"/>
          <p:cNvSpPr txBox="1"/>
          <p:nvPr/>
        </p:nvSpPr>
        <p:spPr>
          <a:xfrm>
            <a:off x="594360" y="23865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Fast, but frame-level only; weak on thin smoke and small flames.</a:t>
            </a:r>
            <a:endParaRPr lang="en-US" sz="1050" dirty="0"/>
          </a:p>
        </p:txBody>
      </p:sp>
      <p:sp>
        <p:nvSpPr>
          <p:cNvPr id="9" name="card-YOLO family (v5 → v8 → v11)"/>
          <p:cNvSpPr/>
          <p:nvPr/>
        </p:nvSpPr>
        <p:spPr>
          <a:xfrm>
            <a:off x="457200" y="2935224"/>
            <a:ext cx="4846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head-YOLO family (v5 → v8 → v11)"/>
          <p:cNvSpPr txBox="1"/>
          <p:nvPr/>
        </p:nvSpPr>
        <p:spPr>
          <a:xfrm>
            <a:off x="594360" y="2990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YOLO family (v5 → v8 → v11)</a:t>
            </a:r>
            <a:endParaRPr lang="en-US" sz="1200" dirty="0"/>
          </a:p>
        </p:txBody>
      </p:sp>
      <p:sp>
        <p:nvSpPr>
          <p:cNvPr id="11" name="card-body-YOLO family (v5 → v8 → v11)"/>
          <p:cNvSpPr txBox="1"/>
          <p:nvPr/>
        </p:nvSpPr>
        <p:spPr>
          <a:xfrm>
            <a:off x="594360" y="328269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Best accuracy-per-millisecond; anchor-free head and C2PSA attention help diffuse smoke. Chosen backbone.</a:t>
            </a:r>
            <a:endParaRPr lang="en-US" sz="1050" dirty="0"/>
          </a:p>
        </p:txBody>
      </p:sp>
      <p:sp>
        <p:nvSpPr>
          <p:cNvPr id="12" name="card-ViT / hybrid (Fire-ViT, CN2VF-Net)"/>
          <p:cNvSpPr/>
          <p:nvPr/>
        </p:nvSpPr>
        <p:spPr>
          <a:xfrm>
            <a:off x="457200" y="3831336"/>
            <a:ext cx="4846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head-ViT / hybrid (Fire-ViT, CN2VF-Net)"/>
          <p:cNvSpPr txBox="1"/>
          <p:nvPr/>
        </p:nvSpPr>
        <p:spPr>
          <a:xfrm>
            <a:off x="59436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ViT / hybrid (Fire-ViT, CN2VF-Net)</a:t>
            </a:r>
            <a:endParaRPr lang="en-US" sz="1200" dirty="0"/>
          </a:p>
        </p:txBody>
      </p:sp>
      <p:sp>
        <p:nvSpPr>
          <p:cNvPr id="14" name="card-body-ViT / hybrid (Fire-ViT, CN2VF-Net)"/>
          <p:cNvSpPr txBox="1"/>
          <p:nvPr/>
        </p:nvSpPr>
        <p:spPr>
          <a:xfrm>
            <a:off x="594360" y="41788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Strong in-domain accuracy; heavier inference, reduced robustness outside training domain.</a:t>
            </a:r>
            <a:endParaRPr lang="en-US" sz="1050" dirty="0"/>
          </a:p>
        </p:txBody>
      </p:sp>
      <p:sp>
        <p:nvSpPr>
          <p:cNvPr id="15" name="card-Research gap identified"/>
          <p:cNvSpPr/>
          <p:nvPr/>
        </p:nvSpPr>
        <p:spPr>
          <a:xfrm>
            <a:off x="5486400" y="1143000"/>
            <a:ext cx="3200400" cy="352044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ard-head-Research gap identified"/>
          <p:cNvSpPr txBox="1"/>
          <p:nvPr/>
        </p:nvSpPr>
        <p:spPr>
          <a:xfrm>
            <a:off x="5623560" y="12527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Research gap identified</a:t>
            </a:r>
            <a:endParaRPr lang="en-US" sz="1400" dirty="0"/>
          </a:p>
        </p:txBody>
      </p:sp>
      <p:sp>
        <p:nvSpPr>
          <p:cNvPr id="17" name="card-body-Research gap identified"/>
          <p:cNvSpPr txBox="1"/>
          <p:nvPr/>
        </p:nvSpPr>
        <p:spPr>
          <a:xfrm>
            <a:off x="5623560" y="1709928"/>
            <a:ext cx="2926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Reviewed work stops at per-frame metrics.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Rarely specified: how a detection becomes a verified alert; how steam, fog and lighting false alarms are suppressed over time; what happens when a camera, sensor or network fails.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Our contribution: robust false-alarm reduction + multi-stage automated response — not a new architecture.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-circle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num"/>
          <p:cNvSpPr txBox="1"/>
          <p:nvPr/>
        </p:nvSpPr>
        <p:spPr>
          <a:xfrm>
            <a:off x="548640" y="640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System Requirements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Hardware and software requirements</a:t>
            </a:r>
            <a:endParaRPr lang="en-US" sz="2800" dirty="0"/>
          </a:p>
        </p:txBody>
      </p:sp>
      <p:graphicFrame>
        <p:nvGraphicFramePr>
          <p:cNvPr id="13" name="hw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Hardware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Specification / role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Development laptop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Intel i5-1340P (12 cores), 16 GB RAM, no GPU — training and inference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Camera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USB webcam / IP / RTSP CCTV, 720p–1080p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ESP32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Sensor gateway + low-voltage actuator controller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MQ-2 gas, temperature sensor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Environmental evidence for fusion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Buzzer, relay, LED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Local alarm, isolated low-voltage prototype load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sw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Software / tool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Python 3.10+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all modules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PyTorch (CPU) + Ultralytics 8.4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YOLOv11n training/inference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OpenCV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capture, preprocessing, overlay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FastAPI + Uvicorn, SQLite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backend API, event database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HTML/CSS/JavaScript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dashboard (no framework)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Requests, SMTP, Telegram Bot API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notifications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pytest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23 unit + API tests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Git/GitHub, VS Code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version control, development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Dataset, API and other dependencies</a:t>
            </a:r>
            <a:endParaRPr lang="en-US" sz="2800" dirty="0"/>
          </a:p>
        </p:txBody>
      </p:sp>
      <p:graphicFrame>
        <p:nvGraphicFramePr>
          <p:cNvPr id="14" name="d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754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685800"/>
                <a:gridCol w="731520"/>
                <a:gridCol w="68580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Images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Fire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Smoke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Both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Negative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Train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3,000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988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988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723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301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Validation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600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189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187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164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Test (held-out)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600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202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135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3"/>
                          </a:solidFill>
                        </a:rPr>
                        <a:t>60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45720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Sources: Hugging Face fog_fire_detection (40.9k, CC-BY-4.0, outdoor + CCTV) and ISFire-4 (7.4k, MIT, indoor); 4 fine classes mapped to fire / smoke.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Stratified per source and split; no video leakage between train and test; dataset register documents licence and mapping.</a:t>
            </a:r>
            <a:endParaRPr lang="en-US" sz="1150" dirty="0"/>
          </a:p>
        </p:txBody>
      </p:sp>
      <p:sp>
        <p:nvSpPr>
          <p:cNvPr id="5" name="card-Backend API (FastAPI)"/>
          <p:cNvSpPr/>
          <p:nvPr/>
        </p:nvSpPr>
        <p:spPr>
          <a:xfrm>
            <a:off x="5486400" y="1143000"/>
            <a:ext cx="3200400" cy="352044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-head-Backend API (FastAPI)"/>
          <p:cNvSpPr txBox="1"/>
          <p:nvPr/>
        </p:nvSpPr>
        <p:spPr>
          <a:xfrm>
            <a:off x="5623560" y="12527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 API (FastAPI)</a:t>
            </a:r>
            <a:endParaRPr lang="en-US" sz="1400" dirty="0"/>
          </a:p>
        </p:txBody>
      </p:sp>
      <p:sp>
        <p:nvSpPr>
          <p:cNvPr id="7" name="card-body-Backend API (FastAPI)"/>
          <p:cNvSpPr txBox="1"/>
          <p:nvPr/>
        </p:nvSpPr>
        <p:spPr>
          <a:xfrm>
            <a:off x="5623560" y="1709928"/>
            <a:ext cx="2926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GET /health · GET /status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GET /devices · /devices/{id}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POST /sensors (ESP32)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POST /detections (AI)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GET /events · /events/{id}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POST /events/{id}/ack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POST /control/estop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GET /stream/{id} (MJPEG)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Config in YAML: thresholds, device, model, notifications; secrets in .env.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-circle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num"/>
          <p:cNvSpPr txBox="1"/>
          <p:nvPr/>
        </p:nvSpPr>
        <p:spPr>
          <a:xfrm>
            <a:off x="548640" y="640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System Design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System architecture and workflow</a:t>
            </a:r>
            <a:endParaRPr lang="en-US" sz="2800" dirty="0"/>
          </a:p>
        </p:txBody>
      </p:sp>
      <p:sp>
        <p:nvSpPr>
          <p:cNvPr id="3" name="layer-Capture &amp; inference"/>
          <p:cNvSpPr/>
          <p:nvPr/>
        </p:nvSpPr>
        <p:spPr>
          <a:xfrm>
            <a:off x="457200" y="1143000"/>
            <a:ext cx="8229600" cy="804672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ayer-name-Capture &amp;amp; inference"/>
          <p:cNvSpPr txBox="1"/>
          <p:nvPr/>
        </p:nvSpPr>
        <p:spPr>
          <a:xfrm>
            <a:off x="594360" y="114300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Capture &amp; inference</a:t>
            </a:r>
            <a:endParaRPr lang="en-US" sz="1100" dirty="0"/>
          </a:p>
        </p:txBody>
      </p:sp>
      <p:sp>
        <p:nvSpPr>
          <p:cNvPr id="5" name="flow-Camera (USB / RTSP)"/>
          <p:cNvSpPr/>
          <p:nvPr/>
        </p:nvSpPr>
        <p:spPr>
          <a:xfrm>
            <a:off x="2286000" y="1271016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flowtxt-Camera (USB / RTSP)"/>
          <p:cNvSpPr txBox="1"/>
          <p:nvPr/>
        </p:nvSpPr>
        <p:spPr>
          <a:xfrm>
            <a:off x="2286000" y="1271016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Camera (USB / RTSP)</a:t>
            </a:r>
            <a:endParaRPr lang="en-US" sz="1000" dirty="0"/>
          </a:p>
        </p:txBody>
      </p:sp>
      <p:sp>
        <p:nvSpPr>
          <p:cNvPr id="7" name="flow-OpenCV capture, letterbox, reconnect"/>
          <p:cNvSpPr/>
          <p:nvPr/>
        </p:nvSpPr>
        <p:spPr>
          <a:xfrm>
            <a:off x="4434840" y="1271016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flowtxt-OpenCV capture, letterbox, reconnect"/>
          <p:cNvSpPr txBox="1"/>
          <p:nvPr/>
        </p:nvSpPr>
        <p:spPr>
          <a:xfrm>
            <a:off x="4434840" y="1271016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OpenCV capture, letterbox, reconnect</a:t>
            </a:r>
            <a:endParaRPr lang="en-US" sz="1000" dirty="0"/>
          </a:p>
        </p:txBody>
      </p:sp>
      <p:sp>
        <p:nvSpPr>
          <p:cNvPr id="9" name="flow-YOLOv11n → class, conf, box"/>
          <p:cNvSpPr/>
          <p:nvPr/>
        </p:nvSpPr>
        <p:spPr>
          <a:xfrm>
            <a:off x="6583680" y="1271016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flowtxt-YOLOv11n → class, conf, box"/>
          <p:cNvSpPr txBox="1"/>
          <p:nvPr/>
        </p:nvSpPr>
        <p:spPr>
          <a:xfrm>
            <a:off x="6583680" y="1271016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YOLOv11n → class, conf, box</a:t>
            </a:r>
            <a:endParaRPr lang="en-US" sz="1000" dirty="0"/>
          </a:p>
        </p:txBody>
      </p:sp>
      <p:sp>
        <p:nvSpPr>
          <p:cNvPr id="11" name="arrow"/>
          <p:cNvSpPr/>
          <p:nvPr/>
        </p:nvSpPr>
        <p:spPr>
          <a:xfrm>
            <a:off x="3291840" y="1947672"/>
            <a:ext cx="0" cy="9144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12" name="layer-Decision &amp; response"/>
          <p:cNvSpPr/>
          <p:nvPr/>
        </p:nvSpPr>
        <p:spPr>
          <a:xfrm>
            <a:off x="457200" y="2039112"/>
            <a:ext cx="8229600" cy="804672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ayer-name-Decision &amp;amp; response"/>
          <p:cNvSpPr txBox="1"/>
          <p:nvPr/>
        </p:nvSpPr>
        <p:spPr>
          <a:xfrm>
            <a:off x="594360" y="2039112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Decision &amp; response</a:t>
            </a:r>
            <a:endParaRPr lang="en-US" sz="1100" dirty="0"/>
          </a:p>
        </p:txBody>
      </p:sp>
      <p:sp>
        <p:nvSpPr>
          <p:cNvPr id="14" name="flow-Temporal decision engine"/>
          <p:cNvSpPr/>
          <p:nvPr/>
        </p:nvSpPr>
        <p:spPr>
          <a:xfrm>
            <a:off x="2286000" y="2167128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flowtxt-Temporal decision engine"/>
          <p:cNvSpPr txBox="1"/>
          <p:nvPr/>
        </p:nvSpPr>
        <p:spPr>
          <a:xfrm>
            <a:off x="2286000" y="2167128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Temporal decision engine</a:t>
            </a:r>
            <a:endParaRPr lang="en-US" sz="1000" dirty="0"/>
          </a:p>
        </p:txBody>
      </p:sp>
      <p:sp>
        <p:nvSpPr>
          <p:cNvPr id="16" name="flow-Sensor fusion + zone filter"/>
          <p:cNvSpPr/>
          <p:nvPr/>
        </p:nvSpPr>
        <p:spPr>
          <a:xfrm>
            <a:off x="4434840" y="2167128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flowtxt-Sensor fusion + zone filter"/>
          <p:cNvSpPr txBox="1"/>
          <p:nvPr/>
        </p:nvSpPr>
        <p:spPr>
          <a:xfrm>
            <a:off x="4434840" y="2167128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Sensor fusion + zone filter</a:t>
            </a:r>
            <a:endParaRPr lang="en-US" sz="1000" dirty="0"/>
          </a:p>
        </p:txBody>
      </p:sp>
      <p:sp>
        <p:nvSpPr>
          <p:cNvPr id="18" name="flow-Evidence, buzzer, notifications"/>
          <p:cNvSpPr/>
          <p:nvPr/>
        </p:nvSpPr>
        <p:spPr>
          <a:xfrm>
            <a:off x="6583680" y="2167128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flowtxt-Evidence, buzzer, notifications"/>
          <p:cNvSpPr txBox="1"/>
          <p:nvPr/>
        </p:nvSpPr>
        <p:spPr>
          <a:xfrm>
            <a:off x="6583680" y="2167128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Evidence, buzzer, notifications</a:t>
            </a:r>
            <a:endParaRPr lang="en-US" sz="1000" dirty="0"/>
          </a:p>
        </p:txBody>
      </p:sp>
      <p:sp>
        <p:nvSpPr>
          <p:cNvPr id="20" name="arrow"/>
          <p:cNvSpPr/>
          <p:nvPr/>
        </p:nvSpPr>
        <p:spPr>
          <a:xfrm>
            <a:off x="3291840" y="2843784"/>
            <a:ext cx="0" cy="9144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21" name="layer-Backend &amp; presentation"/>
          <p:cNvSpPr/>
          <p:nvPr/>
        </p:nvSpPr>
        <p:spPr>
          <a:xfrm>
            <a:off x="457200" y="2935224"/>
            <a:ext cx="8229600" cy="804672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layer-name-Backend &amp;amp; presentation"/>
          <p:cNvSpPr txBox="1"/>
          <p:nvPr/>
        </p:nvSpPr>
        <p:spPr>
          <a:xfrm>
            <a:off x="594360" y="293522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Backend &amp; presentation</a:t>
            </a:r>
            <a:endParaRPr lang="en-US" sz="1100" dirty="0"/>
          </a:p>
        </p:txBody>
      </p:sp>
      <p:sp>
        <p:nvSpPr>
          <p:cNvPr id="23" name="flow-FastAPI REST + MJPEG"/>
          <p:cNvSpPr/>
          <p:nvPr/>
        </p:nvSpPr>
        <p:spPr>
          <a:xfrm>
            <a:off x="2286000" y="3063240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flowtxt-FastAPI REST + MJPEG"/>
          <p:cNvSpPr txBox="1"/>
          <p:nvPr/>
        </p:nvSpPr>
        <p:spPr>
          <a:xfrm>
            <a:off x="228600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FastAPI REST + MJPEG</a:t>
            </a:r>
            <a:endParaRPr lang="en-US" sz="1000" dirty="0"/>
          </a:p>
        </p:txBody>
      </p:sp>
      <p:sp>
        <p:nvSpPr>
          <p:cNvPr id="25" name="flow-SQLite: devices, readings, events"/>
          <p:cNvSpPr/>
          <p:nvPr/>
        </p:nvSpPr>
        <p:spPr>
          <a:xfrm>
            <a:off x="4434840" y="3063240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flowtxt-SQLite: devices, readings, events"/>
          <p:cNvSpPr txBox="1"/>
          <p:nvPr/>
        </p:nvSpPr>
        <p:spPr>
          <a:xfrm>
            <a:off x="443484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SQLite: devices, readings, events</a:t>
            </a:r>
            <a:endParaRPr lang="en-US" sz="1000" dirty="0"/>
          </a:p>
        </p:txBody>
      </p:sp>
      <p:sp>
        <p:nvSpPr>
          <p:cNvPr id="27" name="flow-Web dashboard: live, ack, e-stop"/>
          <p:cNvSpPr/>
          <p:nvPr/>
        </p:nvSpPr>
        <p:spPr>
          <a:xfrm>
            <a:off x="6583680" y="3063240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flowtxt-Web dashboard: live, ack, e-stop"/>
          <p:cNvSpPr txBox="1"/>
          <p:nvPr/>
        </p:nvSpPr>
        <p:spPr>
          <a:xfrm>
            <a:off x="658368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Web dashboard: live, ack, e-stop</a:t>
            </a:r>
            <a:endParaRPr lang="en-US" sz="1000" dirty="0"/>
          </a:p>
        </p:txBody>
      </p:sp>
      <p:sp>
        <p:nvSpPr>
          <p:cNvPr id="29" name="arrow"/>
          <p:cNvSpPr/>
          <p:nvPr/>
        </p:nvSpPr>
        <p:spPr>
          <a:xfrm>
            <a:off x="3291840" y="3739896"/>
            <a:ext cx="0" cy="9144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30" name="layer-IoT node"/>
          <p:cNvSpPr/>
          <p:nvPr/>
        </p:nvSpPr>
        <p:spPr>
          <a:xfrm>
            <a:off x="457200" y="3831336"/>
            <a:ext cx="8229600" cy="804672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layer-name-IoT node"/>
          <p:cNvSpPr txBox="1"/>
          <p:nvPr/>
        </p:nvSpPr>
        <p:spPr>
          <a:xfrm>
            <a:off x="594360" y="3831336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IoT node</a:t>
            </a:r>
            <a:endParaRPr lang="en-US" sz="1100" dirty="0"/>
          </a:p>
        </p:txBody>
      </p:sp>
      <p:sp>
        <p:nvSpPr>
          <p:cNvPr id="32" name="flow-ESP32: MQ-2 gas + temperature"/>
          <p:cNvSpPr/>
          <p:nvPr/>
        </p:nvSpPr>
        <p:spPr>
          <a:xfrm>
            <a:off x="2286000" y="3959352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flowtxt-ESP32: MQ-2 gas + temperature"/>
          <p:cNvSpPr txBox="1"/>
          <p:nvPr/>
        </p:nvSpPr>
        <p:spPr>
          <a:xfrm>
            <a:off x="2286000" y="3959352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ESP32: MQ-2 gas + temperature</a:t>
            </a:r>
            <a:endParaRPr lang="en-US" sz="1000" dirty="0"/>
          </a:p>
        </p:txBody>
      </p:sp>
      <p:sp>
        <p:nvSpPr>
          <p:cNvPr id="34" name="flow-HTTP POST /sensors, polls commands"/>
          <p:cNvSpPr/>
          <p:nvPr/>
        </p:nvSpPr>
        <p:spPr>
          <a:xfrm>
            <a:off x="4434840" y="3959352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flowtxt-HTTP POST /sensors, polls commands"/>
          <p:cNvSpPr txBox="1"/>
          <p:nvPr/>
        </p:nvSpPr>
        <p:spPr>
          <a:xfrm>
            <a:off x="4434840" y="3959352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HTTP POST /sensors, polls commands</a:t>
            </a:r>
            <a:endParaRPr lang="en-US" sz="1000" dirty="0"/>
          </a:p>
        </p:txBody>
      </p:sp>
      <p:sp>
        <p:nvSpPr>
          <p:cNvPr id="36" name="flow-Buzzer, isolated relay, fail-safe"/>
          <p:cNvSpPr/>
          <p:nvPr/>
        </p:nvSpPr>
        <p:spPr>
          <a:xfrm>
            <a:off x="6583680" y="3959352"/>
            <a:ext cx="20116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flowtxt-Buzzer, isolated relay, fail-safe"/>
          <p:cNvSpPr txBox="1"/>
          <p:nvPr/>
        </p:nvSpPr>
        <p:spPr>
          <a:xfrm>
            <a:off x="6583680" y="3959352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Buzzer, isolated relay, fail-safe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Modules and their functionalities</a:t>
            </a:r>
            <a:endParaRPr lang="en-US" sz="2800" dirty="0"/>
          </a:p>
        </p:txBody>
      </p:sp>
      <p:sp>
        <p:nvSpPr>
          <p:cNvPr id="3" name="card-Dataset builder"/>
          <p:cNvSpPr/>
          <p:nvPr/>
        </p:nvSpPr>
        <p:spPr>
          <a:xfrm>
            <a:off x="45720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num-Dataset builder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ard-numtxt-Dataset builder"/>
          <p:cNvSpPr txBox="1"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-head-Dataset builder"/>
          <p:cNvSpPr txBox="1"/>
          <p:nvPr/>
        </p:nvSpPr>
        <p:spPr>
          <a:xfrm>
            <a:off x="105156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Dataset builder</a:t>
            </a:r>
            <a:endParaRPr lang="en-US" sz="1400" dirty="0"/>
          </a:p>
        </p:txBody>
      </p:sp>
      <p:sp>
        <p:nvSpPr>
          <p:cNvPr id="7" name="card-body-Dataset builder"/>
          <p:cNvSpPr txBox="1"/>
          <p:nvPr/>
        </p:nvSpPr>
        <p:spPr>
          <a:xfrm>
            <a:off x="594360" y="1709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training/prepare_dataset.py — stratified sampling from two zips, class remapping, data.yaml, manifest + register.</a:t>
            </a:r>
            <a:endParaRPr lang="en-US" sz="1100" dirty="0"/>
          </a:p>
        </p:txBody>
      </p:sp>
      <p:sp>
        <p:nvSpPr>
          <p:cNvPr id="8" name="card-Trainer &amp; evaluator"/>
          <p:cNvSpPr/>
          <p:nvPr/>
        </p:nvSpPr>
        <p:spPr>
          <a:xfrm>
            <a:off x="324612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num-Trainer &amp; evaluator"/>
          <p:cNvSpPr/>
          <p:nvPr/>
        </p:nvSpPr>
        <p:spPr>
          <a:xfrm>
            <a:off x="338328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-numtxt-Trainer &amp;amp; evaluator"/>
          <p:cNvSpPr txBox="1"/>
          <p:nvPr/>
        </p:nvSpPr>
        <p:spPr>
          <a:xfrm>
            <a:off x="33832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-head-Trainer &amp;amp; evaluator"/>
          <p:cNvSpPr txBox="1"/>
          <p:nvPr/>
        </p:nvSpPr>
        <p:spPr>
          <a:xfrm>
            <a:off x="384048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Trainer &amp; evaluator</a:t>
            </a:r>
            <a:endParaRPr lang="en-US" sz="1400" dirty="0"/>
          </a:p>
        </p:txBody>
      </p:sp>
      <p:sp>
        <p:nvSpPr>
          <p:cNvPr id="12" name="card-body-Trainer &amp;amp; evaluator"/>
          <p:cNvSpPr txBox="1"/>
          <p:nvPr/>
        </p:nvSpPr>
        <p:spPr>
          <a:xfrm>
            <a:off x="3383280" y="1709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training/train.py, evaluate.py — YOLOv11n fine-tuning; per-class P/R/F1/mAP, FP/FN images, latency.</a:t>
            </a:r>
            <a:endParaRPr lang="en-US" sz="1100" dirty="0"/>
          </a:p>
        </p:txBody>
      </p:sp>
      <p:sp>
        <p:nvSpPr>
          <p:cNvPr id="13" name="card-Camera &amp; inference"/>
          <p:cNvSpPr/>
          <p:nvPr/>
        </p:nvSpPr>
        <p:spPr>
          <a:xfrm>
            <a:off x="603504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-num-Camera &amp; inference"/>
          <p:cNvSpPr/>
          <p:nvPr/>
        </p:nvSpPr>
        <p:spPr>
          <a:xfrm>
            <a:off x="617220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-numtxt-Camera &amp;amp; inference"/>
          <p:cNvSpPr txBox="1"/>
          <p:nvPr/>
        </p:nvSpPr>
        <p:spPr>
          <a:xfrm>
            <a:off x="61722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-head-Camera &amp;amp; inference"/>
          <p:cNvSpPr txBox="1"/>
          <p:nvPr/>
        </p:nvSpPr>
        <p:spPr>
          <a:xfrm>
            <a:off x="662940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Camera &amp; inference</a:t>
            </a:r>
            <a:endParaRPr lang="en-US" sz="1400" dirty="0"/>
          </a:p>
        </p:txBody>
      </p:sp>
      <p:sp>
        <p:nvSpPr>
          <p:cNvPr id="17" name="card-body-Camera &amp;amp; inference"/>
          <p:cNvSpPr txBox="1"/>
          <p:nvPr/>
        </p:nvSpPr>
        <p:spPr>
          <a:xfrm>
            <a:off x="6172200" y="1709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vision/, inference/run_live.py — webcam/video/RTSP/folder, reconnect, overlay, evidence snapshots, keys.</a:t>
            </a:r>
            <a:endParaRPr lang="en-US" sz="1100" dirty="0"/>
          </a:p>
        </p:txBody>
      </p:sp>
      <p:sp>
        <p:nvSpPr>
          <p:cNvPr id="18" name="card-Decision engine"/>
          <p:cNvSpPr/>
          <p:nvPr/>
        </p:nvSpPr>
        <p:spPr>
          <a:xfrm>
            <a:off x="45720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-num-Decision engine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ard-numtxt-Decision engine"/>
          <p:cNvSpPr txBox="1"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card-head-Decision engine"/>
          <p:cNvSpPr txBox="1"/>
          <p:nvPr/>
        </p:nvSpPr>
        <p:spPr>
          <a:xfrm>
            <a:off x="105156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Decision engine</a:t>
            </a:r>
            <a:endParaRPr lang="en-US" sz="1400" dirty="0"/>
          </a:p>
        </p:txBody>
      </p:sp>
      <p:sp>
        <p:nvSpPr>
          <p:cNvPr id="22" name="card-body-Decision engine"/>
          <p:cNvSpPr txBox="1"/>
          <p:nvPr/>
        </p:nvSpPr>
        <p:spPr>
          <a:xfrm>
            <a:off x="594360" y="3493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decision_engine/ — time-window state machine, hysteresis, fusion, zone, ack, e-stop; 15 unit tests.</a:t>
            </a:r>
            <a:endParaRPr lang="en-US" sz="1100" dirty="0"/>
          </a:p>
        </p:txBody>
      </p:sp>
      <p:sp>
        <p:nvSpPr>
          <p:cNvPr id="23" name="card-Backend &amp; database"/>
          <p:cNvSpPr/>
          <p:nvPr/>
        </p:nvSpPr>
        <p:spPr>
          <a:xfrm>
            <a:off x="324612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ard-num-Backend &amp; database"/>
          <p:cNvSpPr/>
          <p:nvPr/>
        </p:nvSpPr>
        <p:spPr>
          <a:xfrm>
            <a:off x="338328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card-numtxt-Backend &amp;amp; database"/>
          <p:cNvSpPr txBox="1"/>
          <p:nvPr/>
        </p:nvSpPr>
        <p:spPr>
          <a:xfrm>
            <a:off x="33832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card-head-Backend &amp;amp; database"/>
          <p:cNvSpPr txBox="1"/>
          <p:nvPr/>
        </p:nvSpPr>
        <p:spPr>
          <a:xfrm>
            <a:off x="384048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 &amp; database</a:t>
            </a:r>
            <a:endParaRPr lang="en-US" sz="1400" dirty="0"/>
          </a:p>
        </p:txBody>
      </p:sp>
      <p:sp>
        <p:nvSpPr>
          <p:cNvPr id="27" name="card-body-Backend &amp;amp; database"/>
          <p:cNvSpPr txBox="1"/>
          <p:nvPr/>
        </p:nvSpPr>
        <p:spPr>
          <a:xfrm>
            <a:off x="3383280" y="3493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backend/ — FastAPI + SQLite; devices, sensors, detections, events, notifications; command queue; 8 API tests.</a:t>
            </a:r>
            <a:endParaRPr lang="en-US" sz="1100" dirty="0"/>
          </a:p>
        </p:txBody>
      </p:sp>
      <p:sp>
        <p:nvSpPr>
          <p:cNvPr id="28" name="card-Dashboard, alerts, IoT"/>
          <p:cNvSpPr/>
          <p:nvPr/>
        </p:nvSpPr>
        <p:spPr>
          <a:xfrm>
            <a:off x="603504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ard-num-Dashboard, alerts, IoT"/>
          <p:cNvSpPr/>
          <p:nvPr/>
        </p:nvSpPr>
        <p:spPr>
          <a:xfrm>
            <a:off x="617220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card-numtxt-Dashboard, alerts, IoT"/>
          <p:cNvSpPr txBox="1"/>
          <p:nvPr/>
        </p:nvSpPr>
        <p:spPr>
          <a:xfrm>
            <a:off x="61722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card-head-Dashboard, alerts, IoT"/>
          <p:cNvSpPr txBox="1"/>
          <p:nvPr/>
        </p:nvSpPr>
        <p:spPr>
          <a:xfrm>
            <a:off x="662940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Dashboard, alerts, IoT</a:t>
            </a:r>
            <a:endParaRPr lang="en-US" sz="1400" dirty="0"/>
          </a:p>
        </p:txBody>
      </p:sp>
      <p:sp>
        <p:nvSpPr>
          <p:cNvPr id="32" name="card-body-Dashboard, alerts, IoT"/>
          <p:cNvSpPr txBox="1"/>
          <p:nvPr/>
        </p:nvSpPr>
        <p:spPr>
          <a:xfrm>
            <a:off x="6172200" y="3493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dashboard/, notifications/, iot/ — live UI, Telegram/e-mail, ESP32 firmware + sensor simulator.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Algorithm: temporal decision engine</a:t>
            </a:r>
            <a:endParaRPr lang="en-US" sz="2800" dirty="0"/>
          </a:p>
        </p:txBody>
      </p:sp>
      <p:sp>
        <p:nvSpPr>
          <p:cNvPr id="3" name="flow-NORMAL"/>
          <p:cNvSpPr/>
          <p:nvPr/>
        </p:nvSpPr>
        <p:spPr>
          <a:xfrm>
            <a:off x="457200" y="1188720"/>
            <a:ext cx="1920240" cy="64008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flowtxt-NORMAL"/>
          <p:cNvSpPr txBox="1"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NORMAL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2377440" y="1508760"/>
            <a:ext cx="22860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6" name="flow-WARNING"/>
          <p:cNvSpPr/>
          <p:nvPr/>
        </p:nvSpPr>
        <p:spPr>
          <a:xfrm>
            <a:off x="2606040" y="1188720"/>
            <a:ext cx="1920240" cy="64008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flowtxt-WARNING"/>
          <p:cNvSpPr txBox="1"/>
          <p:nvPr/>
        </p:nvSpPr>
        <p:spPr>
          <a:xfrm>
            <a:off x="26060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WARNING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4526280" y="1508760"/>
            <a:ext cx="22860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9" name="flow-CONFIRMED"/>
          <p:cNvSpPr/>
          <p:nvPr/>
        </p:nvSpPr>
        <p:spPr>
          <a:xfrm>
            <a:off x="4754880" y="1188720"/>
            <a:ext cx="1920240" cy="640080"/>
          </a:xfrm>
          <a:prstGeom prst="roundRect">
            <a:avLst>
              <a:gd name="adj" fmla="val 8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flowtxt-CONFIRMED"/>
          <p:cNvSpPr txBox="1"/>
          <p:nvPr/>
        </p:nvSpPr>
        <p:spPr>
          <a:xfrm>
            <a:off x="47548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CONFIRMED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6675120" y="1508760"/>
            <a:ext cx="22860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12" name="flow-RECOVERY"/>
          <p:cNvSpPr/>
          <p:nvPr/>
        </p:nvSpPr>
        <p:spPr>
          <a:xfrm>
            <a:off x="6903720" y="1188720"/>
            <a:ext cx="1920240" cy="64008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flowtxt-RECOVERY"/>
          <p:cNvSpPr txBox="1"/>
          <p:nvPr/>
        </p:nvSpPr>
        <p:spPr>
          <a:xfrm>
            <a:off x="69037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RECOVERY</a:t>
            </a:r>
            <a:endParaRPr lang="en-US" sz="1400" dirty="0"/>
          </a:p>
        </p:txBody>
      </p:sp>
      <p:sp>
        <p:nvSpPr>
          <p:cNvPr id="14" name="t1"/>
          <p:cNvSpPr txBox="1"/>
          <p:nvPr/>
        </p:nvSpPr>
        <p:spPr>
          <a:xfrm>
            <a:off x="219456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≥ 3 hits ≥ 0.35 in 3 s</a:t>
            </a:r>
            <a:endParaRPr lang="en-US" sz="950" dirty="0"/>
          </a:p>
        </p:txBody>
      </p:sp>
      <p:sp>
        <p:nvSpPr>
          <p:cNvPr id="15" name="t2"/>
          <p:cNvSpPr txBox="1"/>
          <p:nvPr/>
        </p:nvSpPr>
        <p:spPr>
          <a:xfrm>
            <a:off x="42062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≥ 10 hits ≥ 0.55 over ≥ 2 s (≥ 6 if sensors elevated)</a:t>
            </a:r>
            <a:endParaRPr lang="en-US" sz="950" dirty="0"/>
          </a:p>
        </p:txBody>
      </p:sp>
      <p:sp>
        <p:nvSpPr>
          <p:cNvPr id="16" name="t3"/>
          <p:cNvSpPr txBox="1"/>
          <p:nvPr/>
        </p:nvSpPr>
        <p:spPr>
          <a:xfrm>
            <a:off x="658368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nothing ≥ 0.25 for 4 s</a:t>
            </a:r>
            <a:endParaRPr lang="en-US" sz="950" dirty="0"/>
          </a:p>
        </p:txBody>
      </p:sp>
      <p:sp>
        <p:nvSpPr>
          <p:cNvPr id="17" name="bullets"/>
          <p:cNvSpPr txBox="1"/>
          <p:nvPr/>
        </p:nvSpPr>
        <p:spPr>
          <a:xfrm>
            <a:off x="457200" y="23317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Sliding 3 s window of best-detection confidences; a single frame can never trigger.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Separate enter (0.35 / 0.55) and clear (0.25) thresholds = hysteresis, no flapping.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Sensor fusion: elevated gas/temperature lowers the confirmation bar; sensor-only evidence → SENSOR_WARNING.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Stale sensor readings (&gt; 15 s) ignored; acknowledge → RECOVERY; emergency stop blocks all physical outputs.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RECOVERY → NORMAL after 10 s stable; re-appearance re-confirms immediately.</a:t>
            </a:r>
            <a:endParaRPr lang="en-US" sz="1250" dirty="0"/>
          </a:p>
        </p:txBody>
      </p:sp>
      <p:sp>
        <p:nvSpPr>
          <p:cNvPr id="18" name="card-Also used"/>
          <p:cNvSpPr/>
          <p:nvPr/>
        </p:nvSpPr>
        <p:spPr>
          <a:xfrm>
            <a:off x="5852160" y="2331720"/>
            <a:ext cx="28346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-head-Also used"/>
          <p:cNvSpPr txBox="1"/>
          <p:nvPr/>
        </p:nvSpPr>
        <p:spPr>
          <a:xfrm>
            <a:off x="5989320" y="2441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Also used</a:t>
            </a:r>
            <a:endParaRPr lang="en-US" sz="1400" dirty="0"/>
          </a:p>
        </p:txBody>
      </p:sp>
      <p:sp>
        <p:nvSpPr>
          <p:cNvPr id="20" name="card-body-Also used"/>
          <p:cNvSpPr txBox="1"/>
          <p:nvPr/>
        </p:nvSpPr>
        <p:spPr>
          <a:xfrm>
            <a:off x="5989320" y="2898648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YOLOv11n (anchor-free, C2PSA) · IoU matching at 0.5 · NMS · mosaic/HSV/flip/scale augmentation · AdamW, seed 42 · precision/recall/F1/mAP@0.5/0.5:0.95.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-circle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num"/>
          <p:cNvSpPr txBox="1"/>
          <p:nvPr/>
        </p:nvSpPr>
        <p:spPr>
          <a:xfrm>
            <a:off x="548640" y="640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Implementation and Demonstration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Module 1 implemented: AI fire/smoke model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Downloaded and merged two public datasets; stratified 3,000 / 600 / 600 split with 15 % negatives.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YOLOv11n fine-tuned from COCO weights: 416 px, batch 16, 10 epochs, AdamW, seed 42 — on CPU (94.9 min).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Evaluation script: per-class precision / recall / F1 / mAP, FP/FN example images, false-alarm rate on negatives, latency.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Artifacts: models/best.pt, training_config.json, eval_report.md, PR curves, confusion matrix, dataset register.</a:t>
            </a:r>
            <a:endParaRPr lang="en-US" sz="1250" dirty="0"/>
          </a:p>
        </p:txBody>
      </p:sp>
      <p:pic>
        <p:nvPicPr>
          <p:cNvPr id="4" name="curves" descr="C:\Users\Pranav Bhat\Desktop\fire alarm\paper\figs\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3840480" cy="1417320"/>
          </a:xfrm>
          <a:prstGeom prst="rect">
            <a:avLst/>
          </a:prstGeom>
        </p:spPr>
      </p:pic>
      <p:sp>
        <p:nvSpPr>
          <p:cNvPr id="5" name="cap1"/>
          <p:cNvSpPr txBox="1"/>
          <p:nvPr/>
        </p:nvSpPr>
        <p:spPr>
          <a:xfrm>
            <a:off x="4846320" y="2633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Training/validation loss and validation metrics per epoch</a:t>
            </a:r>
            <a:endParaRPr lang="en-US" sz="900" dirty="0"/>
          </a:p>
        </p:txBody>
      </p:sp>
      <p:pic>
        <p:nvPicPr>
          <p:cNvPr id="6" name="pr" descr="C:\Users\Pranav Bhat\Desktop\fire alarm\paper\figs\BoxPR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926080"/>
            <a:ext cx="1828800" cy="1371600"/>
          </a:xfrm>
          <a:prstGeom prst="rect">
            <a:avLst/>
          </a:prstGeom>
        </p:spPr>
      </p:pic>
      <p:pic>
        <p:nvPicPr>
          <p:cNvPr id="7" name="cm" descr="C:\Users\Pranav Bhat\Desktop\fire alarm\paper\figs\confusion_matrix_normaliz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926080"/>
            <a:ext cx="1828800" cy="1371600"/>
          </a:xfrm>
          <a:prstGeom prst="rect">
            <a:avLst/>
          </a:prstGeom>
        </p:spPr>
      </p:pic>
      <p:sp>
        <p:nvSpPr>
          <p:cNvPr id="8" name="cap2"/>
          <p:cNvSpPr txBox="1"/>
          <p:nvPr/>
        </p:nvSpPr>
        <p:spPr>
          <a:xfrm>
            <a:off x="4846320" y="4315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PR curves · normalised confusion matrix (test split)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Module 2 implemented: real-time pipeline</a:t>
            </a:r>
            <a:endParaRPr lang="en-US" sz="2800" dirty="0"/>
          </a:p>
        </p:txBody>
      </p:sp>
      <p:pic>
        <p:nvPicPr>
          <p:cNvPr id="3" name="dash" descr="C:\Users\Pranav Bhat\Desktop\fire alarm\paper\fig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937760" cy="2788920"/>
          </a:xfrm>
          <a:prstGeom prst="rect">
            <a:avLst/>
          </a:prstGeom>
        </p:spPr>
      </p:pic>
      <p:sp>
        <p:nvSpPr>
          <p:cNvPr id="4" name="cap3"/>
          <p:cNvSpPr txBox="1"/>
          <p:nvPr/>
        </p:nvSpPr>
        <p:spPr>
          <a:xfrm>
            <a:off x="457200" y="39502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Live dashboard: annotated feed, state, sensors, latest detections, events</a:t>
            </a:r>
            <a:endParaRPr lang="en-US" sz="900" dirty="0"/>
          </a:p>
        </p:txBody>
      </p:sp>
      <p:sp>
        <p:nvSpPr>
          <p:cNvPr id="5" name="bullets"/>
          <p:cNvSpPr txBox="1"/>
          <p:nvPr/>
        </p:nvSpPr>
        <p:spPr>
          <a:xfrm>
            <a:off x="5577840" y="11430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Camera → YOLO → filters → time-window engine → overlay, evidence, buzzer, notifications.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FastAPI + SQLite backend with the full required endpoint set; MJPEG live stream.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Dashboard: NORMAL / WARNING / CONFIRMED, sensor gauges + chart, timeline, acknowledge, history, device health, e-stop.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ESP32 simulator + firmware for sensor fusion; fail-safes for camera, sensor and network loss.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23 automated tests pass (engine + API); one-click setup/run scripts for any laptop.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Demonstration plan (two modules)</a:t>
            </a:r>
            <a:endParaRPr lang="en-US" sz="2800" dirty="0"/>
          </a:p>
        </p:txBody>
      </p:sp>
      <p:sp>
        <p:nvSpPr>
          <p:cNvPr id="3" name="card-Model artefacts"/>
          <p:cNvSpPr/>
          <p:nvPr/>
        </p:nvSpPr>
        <p:spPr>
          <a:xfrm>
            <a:off x="457200" y="114300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num-Model artefacts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ard-numtxt-Model artefacts"/>
          <p:cNvSpPr txBox="1"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-head-Model artefacts"/>
          <p:cNvSpPr txBox="1"/>
          <p:nvPr/>
        </p:nvSpPr>
        <p:spPr>
          <a:xfrm>
            <a:off x="1051560" y="1252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Model artefacts</a:t>
            </a:r>
            <a:endParaRPr lang="en-US" sz="1200" dirty="0"/>
          </a:p>
        </p:txBody>
      </p:sp>
      <p:sp>
        <p:nvSpPr>
          <p:cNvPr id="7" name="card-body-Model artefacts"/>
          <p:cNvSpPr txBox="1"/>
          <p:nvPr/>
        </p:nvSpPr>
        <p:spPr>
          <a:xfrm>
            <a:off x="594360" y="17099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Dataset register → training config → eval report, PR curve, confusion matrix, FP/FN examples.</a:t>
            </a:r>
            <a:endParaRPr lang="en-US" sz="1050" dirty="0"/>
          </a:p>
        </p:txBody>
      </p:sp>
      <p:sp>
        <p:nvSpPr>
          <p:cNvPr id="8" name="card-Live NORMAL"/>
          <p:cNvSpPr/>
          <p:nvPr/>
        </p:nvSpPr>
        <p:spPr>
          <a:xfrm>
            <a:off x="2560320" y="114300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num-Live NORMAL"/>
          <p:cNvSpPr/>
          <p:nvPr/>
        </p:nvSpPr>
        <p:spPr>
          <a:xfrm>
            <a:off x="269748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-numtxt-Live NORMAL"/>
          <p:cNvSpPr txBox="1"/>
          <p:nvPr/>
        </p:nvSpPr>
        <p:spPr>
          <a:xfrm>
            <a:off x="26974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-head-Live NORMAL"/>
          <p:cNvSpPr txBox="1"/>
          <p:nvPr/>
        </p:nvSpPr>
        <p:spPr>
          <a:xfrm>
            <a:off x="3154680" y="1252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Live NORMAL</a:t>
            </a:r>
            <a:endParaRPr lang="en-US" sz="1200" dirty="0"/>
          </a:p>
        </p:txBody>
      </p:sp>
      <p:sp>
        <p:nvSpPr>
          <p:cNvPr id="12" name="card-body-Live NORMAL"/>
          <p:cNvSpPr txBox="1"/>
          <p:nvPr/>
        </p:nvSpPr>
        <p:spPr>
          <a:xfrm>
            <a:off x="2697480" y="17099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Room only: green state, FPS/latency, sensors normal, device online.</a:t>
            </a:r>
            <a:endParaRPr lang="en-US" sz="1050" dirty="0"/>
          </a:p>
        </p:txBody>
      </p:sp>
      <p:sp>
        <p:nvSpPr>
          <p:cNvPr id="13" name="card-Single-frame test"/>
          <p:cNvSpPr/>
          <p:nvPr/>
        </p:nvSpPr>
        <p:spPr>
          <a:xfrm>
            <a:off x="4663440" y="114300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-num-Single-frame test"/>
          <p:cNvSpPr/>
          <p:nvPr/>
        </p:nvSpPr>
        <p:spPr>
          <a:xfrm>
            <a:off x="480060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-numtxt-Single-frame test"/>
          <p:cNvSpPr txBox="1"/>
          <p:nvPr/>
        </p:nvSpPr>
        <p:spPr>
          <a:xfrm>
            <a:off x="48006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-head-Single-frame test"/>
          <p:cNvSpPr txBox="1"/>
          <p:nvPr/>
        </p:nvSpPr>
        <p:spPr>
          <a:xfrm>
            <a:off x="5257800" y="1252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Single-frame test</a:t>
            </a:r>
            <a:endParaRPr lang="en-US" sz="1200" dirty="0"/>
          </a:p>
        </p:txBody>
      </p:sp>
      <p:sp>
        <p:nvSpPr>
          <p:cNvPr id="17" name="card-body-Single-frame test"/>
          <p:cNvSpPr txBox="1"/>
          <p:nvPr/>
        </p:nvSpPr>
        <p:spPr>
          <a:xfrm>
            <a:off x="4800600" y="17099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Flash a fire video &lt; 1 s: boxes appear, state stays NORMAL.</a:t>
            </a:r>
            <a:endParaRPr lang="en-US" sz="1050" dirty="0"/>
          </a:p>
        </p:txBody>
      </p:sp>
      <p:sp>
        <p:nvSpPr>
          <p:cNvPr id="18" name="card-WARNING → CONFIRMED"/>
          <p:cNvSpPr/>
          <p:nvPr/>
        </p:nvSpPr>
        <p:spPr>
          <a:xfrm>
            <a:off x="6766560" y="114300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-num-WARNING → CONFIRMED"/>
          <p:cNvSpPr/>
          <p:nvPr/>
        </p:nvSpPr>
        <p:spPr>
          <a:xfrm>
            <a:off x="6903720" y="1280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ard-numtxt-WARNING → CONFIRMED"/>
          <p:cNvSpPr txBox="1"/>
          <p:nvPr/>
        </p:nvSpPr>
        <p:spPr>
          <a:xfrm>
            <a:off x="69037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card-head-WARNING → CONFIRMED"/>
          <p:cNvSpPr txBox="1"/>
          <p:nvPr/>
        </p:nvSpPr>
        <p:spPr>
          <a:xfrm>
            <a:off x="7360920" y="1252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WARNING → CONFIRMED</a:t>
            </a:r>
            <a:endParaRPr lang="en-US" sz="1200" dirty="0"/>
          </a:p>
        </p:txBody>
      </p:sp>
      <p:sp>
        <p:nvSpPr>
          <p:cNvPr id="22" name="card-body-WARNING → CONFIRMED"/>
          <p:cNvSpPr txBox="1"/>
          <p:nvPr/>
        </p:nvSpPr>
        <p:spPr>
          <a:xfrm>
            <a:off x="6903720" y="17099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Hold fire: WARNING in ~1 s, CONFIRMED after 2 s — buzzer, evidence, event, notification.</a:t>
            </a:r>
            <a:endParaRPr lang="en-US" sz="1050" dirty="0"/>
          </a:p>
        </p:txBody>
      </p:sp>
      <p:sp>
        <p:nvSpPr>
          <p:cNvPr id="23" name="card-Acknowledge / recovery"/>
          <p:cNvSpPr/>
          <p:nvPr/>
        </p:nvSpPr>
        <p:spPr>
          <a:xfrm>
            <a:off x="457200" y="292608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ard-num-Acknowledge / recovery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card-numtxt-Acknowledge / recovery"/>
          <p:cNvSpPr txBox="1"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card-head-Acknowledge / recovery"/>
          <p:cNvSpPr txBox="1"/>
          <p:nvPr/>
        </p:nvSpPr>
        <p:spPr>
          <a:xfrm>
            <a:off x="105156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Acknowledge / recovery</a:t>
            </a:r>
            <a:endParaRPr lang="en-US" sz="1200" dirty="0"/>
          </a:p>
        </p:txBody>
      </p:sp>
      <p:sp>
        <p:nvSpPr>
          <p:cNvPr id="27" name="card-body-Acknowledge / recovery"/>
          <p:cNvSpPr txBox="1"/>
          <p:nvPr/>
        </p:nvSpPr>
        <p:spPr>
          <a:xfrm>
            <a:off x="594360" y="349300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Dashboard Acknowledge → RECOVERY → NORMAL after 10 s; event closed with duration + peak.</a:t>
            </a:r>
            <a:endParaRPr lang="en-US" sz="1050" dirty="0"/>
          </a:p>
        </p:txBody>
      </p:sp>
      <p:sp>
        <p:nvSpPr>
          <p:cNvPr id="28" name="card-Hard negative"/>
          <p:cNvSpPr/>
          <p:nvPr/>
        </p:nvSpPr>
        <p:spPr>
          <a:xfrm>
            <a:off x="2560320" y="292608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ard-num-Hard negative"/>
          <p:cNvSpPr/>
          <p:nvPr/>
        </p:nvSpPr>
        <p:spPr>
          <a:xfrm>
            <a:off x="269748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card-numtxt-Hard negative"/>
          <p:cNvSpPr txBox="1"/>
          <p:nvPr/>
        </p:nvSpPr>
        <p:spPr>
          <a:xfrm>
            <a:off x="26974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card-head-Hard negative"/>
          <p:cNvSpPr txBox="1"/>
          <p:nvPr/>
        </p:nvSpPr>
        <p:spPr>
          <a:xfrm>
            <a:off x="315468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Hard negative</a:t>
            </a:r>
            <a:endParaRPr lang="en-US" sz="1200" dirty="0"/>
          </a:p>
        </p:txBody>
      </p:sp>
      <p:sp>
        <p:nvSpPr>
          <p:cNvPr id="32" name="card-body-Hard negative"/>
          <p:cNvSpPr txBox="1"/>
          <p:nvPr/>
        </p:nvSpPr>
        <p:spPr>
          <a:xfrm>
            <a:off x="2697480" y="349300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Steam / white cloth / torch: no alarm.</a:t>
            </a:r>
            <a:endParaRPr lang="en-US" sz="1050" dirty="0"/>
          </a:p>
        </p:txBody>
      </p:sp>
      <p:sp>
        <p:nvSpPr>
          <p:cNvPr id="33" name="card-Sensor fusion"/>
          <p:cNvSpPr/>
          <p:nvPr/>
        </p:nvSpPr>
        <p:spPr>
          <a:xfrm>
            <a:off x="4663440" y="292608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card-num-Sensor fusion"/>
          <p:cNvSpPr/>
          <p:nvPr/>
        </p:nvSpPr>
        <p:spPr>
          <a:xfrm>
            <a:off x="480060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card-numtxt-Sensor fusion"/>
          <p:cNvSpPr txBox="1"/>
          <p:nvPr/>
        </p:nvSpPr>
        <p:spPr>
          <a:xfrm>
            <a:off x="48006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6" name="card-head-Sensor fusion"/>
          <p:cNvSpPr txBox="1"/>
          <p:nvPr/>
        </p:nvSpPr>
        <p:spPr>
          <a:xfrm>
            <a:off x="525780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Sensor fusion</a:t>
            </a:r>
            <a:endParaRPr lang="en-US" sz="1200" dirty="0"/>
          </a:p>
        </p:txBody>
      </p:sp>
      <p:sp>
        <p:nvSpPr>
          <p:cNvPr id="37" name="card-body-Sensor fusion"/>
          <p:cNvSpPr txBox="1"/>
          <p:nvPr/>
        </p:nvSpPr>
        <p:spPr>
          <a:xfrm>
            <a:off x="4800600" y="349300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Simulator smoke → SENSOR_WARNING; smoke+heat + fire → faster confirmation; disconnect → stale.</a:t>
            </a:r>
            <a:endParaRPr lang="en-US" sz="1050" dirty="0"/>
          </a:p>
        </p:txBody>
      </p:sp>
      <p:sp>
        <p:nvSpPr>
          <p:cNvPr id="38" name="card-Fail-safes"/>
          <p:cNvSpPr/>
          <p:nvPr/>
        </p:nvSpPr>
        <p:spPr>
          <a:xfrm>
            <a:off x="6766560" y="292608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ard-num-Fail-safes"/>
          <p:cNvSpPr/>
          <p:nvPr/>
        </p:nvSpPr>
        <p:spPr>
          <a:xfrm>
            <a:off x="6903720" y="3063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card-numtxt-Fail-safes"/>
          <p:cNvSpPr txBox="1"/>
          <p:nvPr/>
        </p:nvSpPr>
        <p:spPr>
          <a:xfrm>
            <a:off x="69037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1" name="card-head-Fail-safes"/>
          <p:cNvSpPr txBox="1"/>
          <p:nvPr/>
        </p:nvSpPr>
        <p:spPr>
          <a:xfrm>
            <a:off x="736092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Fail-safes</a:t>
            </a:r>
            <a:endParaRPr lang="en-US" sz="1200" dirty="0"/>
          </a:p>
        </p:txBody>
      </p:sp>
      <p:sp>
        <p:nvSpPr>
          <p:cNvPr id="42" name="card-body-Fail-safes"/>
          <p:cNvSpPr txBox="1"/>
          <p:nvPr/>
        </p:nvSpPr>
        <p:spPr>
          <a:xfrm>
            <a:off x="6903720" y="349300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Cover camera → CAMERA LOST + auto-reconnect; stop backend → inference continues; EMERGENCY STOP.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Results on the held-out test split</a:t>
            </a:r>
            <a:endParaRPr lang="en-US" sz="2800" dirty="0"/>
          </a:p>
        </p:txBody>
      </p:sp>
      <p:graphicFrame>
        <p:nvGraphicFramePr>
          <p:cNvPr id="23" name="metric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1206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868680"/>
                <a:gridCol w="731520"/>
                <a:gridCol w="640080"/>
                <a:gridCol w="868680"/>
                <a:gridCol w="1234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mAP@0.5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mAP@0.5:0.95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3"/>
                          </a:solidFill>
                        </a:rPr>
                        <a:t>Fire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0.448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0.503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0.474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0.461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0.229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3"/>
                          </a:solidFill>
                        </a:rPr>
                        <a:t>Smoke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0.590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0.476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0.527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0.508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0.265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3"/>
                          </a:solidFill>
                        </a:rPr>
                        <a:t>All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0.519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0.490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0.504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0.484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3"/>
                          </a:solidFill>
                        </a:rPr>
                        <a:t>0.247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tat-mAP@0.5 (600 images, 10-epoch CPU model)"/>
          <p:cNvSpPr txBox="1"/>
          <p:nvPr/>
        </p:nvSpPr>
        <p:spPr>
          <a:xfrm>
            <a:off x="5852160" y="1097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0.484</a:t>
            </a:r>
            <a:endParaRPr lang="en-US" sz="4000" dirty="0"/>
          </a:p>
        </p:txBody>
      </p:sp>
      <p:sp>
        <p:nvSpPr>
          <p:cNvPr id="5" name="stat-label-mAP@0.5 (600 images, 10-epoch CPU model)"/>
          <p:cNvSpPr txBox="1"/>
          <p:nvPr/>
        </p:nvSpPr>
        <p:spPr>
          <a:xfrm>
            <a:off x="585216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mAP@0.5 (600 images, 10-epoch CPU model)</a:t>
            </a:r>
            <a:endParaRPr lang="en-US" sz="1100" dirty="0"/>
          </a:p>
        </p:txBody>
      </p:sp>
      <p:sp>
        <p:nvSpPr>
          <p:cNvPr id="6" name="stat-negative images with zero false alarms"/>
          <p:cNvSpPr txBox="1"/>
          <p:nvPr/>
        </p:nvSpPr>
        <p:spPr>
          <a:xfrm>
            <a:off x="5852160" y="2377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60/60</a:t>
            </a:r>
            <a:endParaRPr lang="en-US" sz="4000" dirty="0"/>
          </a:p>
        </p:txBody>
      </p:sp>
      <p:sp>
        <p:nvSpPr>
          <p:cNvPr id="7" name="stat-label-negative images with zero false alarms"/>
          <p:cNvSpPr txBox="1"/>
          <p:nvPr/>
        </p:nvSpPr>
        <p:spPr>
          <a:xfrm>
            <a:off x="585216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negative images with zero false alarms</a:t>
            </a:r>
            <a:endParaRPr lang="en-US" sz="1100" dirty="0"/>
          </a:p>
        </p:txBody>
      </p:sp>
      <p:sp>
        <p:nvSpPr>
          <p:cNvPr id="8" name="stat-CPU only, 31.9 ms per frame at 416 px"/>
          <p:cNvSpPr txBox="1"/>
          <p:nvPr/>
        </p:nvSpPr>
        <p:spPr>
          <a:xfrm>
            <a:off x="5852160" y="3657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31.4 fps</a:t>
            </a:r>
            <a:endParaRPr lang="en-US" sz="4000" dirty="0"/>
          </a:p>
        </p:txBody>
      </p:sp>
      <p:sp>
        <p:nvSpPr>
          <p:cNvPr id="9" name="stat-label-CPU only, 31.9 ms per frame at 416 px"/>
          <p:cNvSpPr txBox="1"/>
          <p:nvPr/>
        </p:nvSpPr>
        <p:spPr>
          <a:xfrm>
            <a:off x="585216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CPU only, 31.9 ms per frame at 416 px</a:t>
            </a:r>
            <a:endParaRPr lang="en-US" sz="1100" dirty="0"/>
          </a:p>
        </p:txBody>
      </p:sp>
      <p:sp>
        <p:nvSpPr>
          <p:cNvPr id="10" name="bullets"/>
          <p:cNvSpPr txBox="1"/>
          <p:nvPr/>
        </p:nvSpPr>
        <p:spPr>
          <a:xfrm>
            <a:off x="457200" y="26060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Operating point (conf 0.35, IoU 0.5): TP 346, FP 159, FN 681; the temporal engine filters isolated boxes before any alert.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Engine verified by 15 unit tests; backend by 8 API tests; live fail-safe scenarios executed on the demo laptop.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Numbers are a lower bound: 4,200-image subset, 10 epochs, no GPU — same scripts scale to the full 48k corpus.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Challenges encountered</a:t>
            </a:r>
            <a:endParaRPr lang="en-US" sz="2800" dirty="0"/>
          </a:p>
        </p:txBody>
      </p:sp>
      <p:sp>
        <p:nvSpPr>
          <p:cNvPr id="3" name="card-No GPU"/>
          <p:cNvSpPr/>
          <p:nvPr/>
        </p:nvSpPr>
        <p:spPr>
          <a:xfrm>
            <a:off x="45720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head-No GPU"/>
          <p:cNvSpPr txBox="1"/>
          <p:nvPr/>
        </p:nvSpPr>
        <p:spPr>
          <a:xfrm>
            <a:off x="594360" y="1252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GPU</a:t>
            </a:r>
            <a:endParaRPr lang="en-US" sz="1400" dirty="0"/>
          </a:p>
        </p:txBody>
      </p:sp>
      <p:sp>
        <p:nvSpPr>
          <p:cNvPr id="5" name="card-body-No GPU"/>
          <p:cNvSpPr txBox="1"/>
          <p:nvPr/>
        </p:nvSpPr>
        <p:spPr>
          <a:xfrm>
            <a:off x="594360" y="1709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CPU-only training limited us to a 4,200-image subset and 10 epochs (~7 min/epoch); mitigated with YOLOv11n, 416 px, RAM caching, stratified sampling.</a:t>
            </a:r>
            <a:endParaRPr lang="en-US" sz="1050" dirty="0"/>
          </a:p>
        </p:txBody>
      </p:sp>
      <p:sp>
        <p:nvSpPr>
          <p:cNvPr id="6" name="card-Dataset mismatch"/>
          <p:cNvSpPr/>
          <p:nvPr/>
        </p:nvSpPr>
        <p:spPr>
          <a:xfrm>
            <a:off x="324612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-head-Dataset mismatch"/>
          <p:cNvSpPr txBox="1"/>
          <p:nvPr/>
        </p:nvSpPr>
        <p:spPr>
          <a:xfrm>
            <a:off x="3383280" y="1252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Dataset mismatch</a:t>
            </a:r>
            <a:endParaRPr lang="en-US" sz="1400" dirty="0"/>
          </a:p>
        </p:txBody>
      </p:sp>
      <p:sp>
        <p:nvSpPr>
          <p:cNvPr id="8" name="card-body-Dataset mismatch"/>
          <p:cNvSpPr txBox="1"/>
          <p:nvPr/>
        </p:nvSpPr>
        <p:spPr>
          <a:xfrm>
            <a:off x="3383280" y="1709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Public sets are wildfire-heavy; indoor demo flames looked different. Merged an indoor set and balanced fire/smoke/both/negative.</a:t>
            </a:r>
            <a:endParaRPr lang="en-US" sz="1050" dirty="0"/>
          </a:p>
        </p:txBody>
      </p:sp>
      <p:sp>
        <p:nvSpPr>
          <p:cNvPr id="9" name="card-False alarms"/>
          <p:cNvSpPr/>
          <p:nvPr/>
        </p:nvSpPr>
        <p:spPr>
          <a:xfrm>
            <a:off x="603504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head-False alarms"/>
          <p:cNvSpPr txBox="1"/>
          <p:nvPr/>
        </p:nvSpPr>
        <p:spPr>
          <a:xfrm>
            <a:off x="6172200" y="1252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False alarms</a:t>
            </a:r>
            <a:endParaRPr lang="en-US" sz="1400" dirty="0"/>
          </a:p>
        </p:txBody>
      </p:sp>
      <p:sp>
        <p:nvSpPr>
          <p:cNvPr id="11" name="card-body-False alarms"/>
          <p:cNvSpPr txBox="1"/>
          <p:nvPr/>
        </p:nvSpPr>
        <p:spPr>
          <a:xfrm>
            <a:off x="6172200" y="1709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Reflections, torch light and steam produce single high-confidence boxes; solved by time-windowed confirmation and hysteresis, not by lowering thresholds.</a:t>
            </a:r>
            <a:endParaRPr lang="en-US" sz="1050" dirty="0"/>
          </a:p>
        </p:txBody>
      </p:sp>
      <p:sp>
        <p:nvSpPr>
          <p:cNvPr id="12" name="card-Robustness"/>
          <p:cNvSpPr/>
          <p:nvPr/>
        </p:nvSpPr>
        <p:spPr>
          <a:xfrm>
            <a:off x="45720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head-Robustness"/>
          <p:cNvSpPr txBox="1"/>
          <p:nvPr/>
        </p:nvSpPr>
        <p:spPr>
          <a:xfrm>
            <a:off x="594360" y="30358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Robustness</a:t>
            </a:r>
            <a:endParaRPr lang="en-US" sz="1400" dirty="0"/>
          </a:p>
        </p:txBody>
      </p:sp>
      <p:sp>
        <p:nvSpPr>
          <p:cNvPr id="14" name="card-body-Robustness"/>
          <p:cNvSpPr txBox="1"/>
          <p:nvPr/>
        </p:nvSpPr>
        <p:spPr>
          <a:xfrm>
            <a:off x="594360" y="3493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Camera disconnects, stale sensors and backend outages had to be handled explicitly (reconnect, staleness check, local buffering).</a:t>
            </a:r>
            <a:endParaRPr lang="en-US" sz="1050" dirty="0"/>
          </a:p>
        </p:txBody>
      </p:sp>
      <p:sp>
        <p:nvSpPr>
          <p:cNvPr id="15" name="card-Shared CPU"/>
          <p:cNvSpPr/>
          <p:nvPr/>
        </p:nvSpPr>
        <p:spPr>
          <a:xfrm>
            <a:off x="324612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-head-Shared CPU"/>
          <p:cNvSpPr txBox="1"/>
          <p:nvPr/>
        </p:nvSpPr>
        <p:spPr>
          <a:xfrm>
            <a:off x="3383280" y="30358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Shared CPU</a:t>
            </a:r>
            <a:endParaRPr lang="en-US" sz="1400" dirty="0"/>
          </a:p>
        </p:txBody>
      </p:sp>
      <p:sp>
        <p:nvSpPr>
          <p:cNvPr id="17" name="card-body-Shared CPU"/>
          <p:cNvSpPr txBox="1"/>
          <p:nvPr/>
        </p:nvSpPr>
        <p:spPr>
          <a:xfrm>
            <a:off x="3383280" y="3493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Running live inference while training slowed both 10×; sequenced the work and added a headless/test mode.</a:t>
            </a:r>
            <a:endParaRPr lang="en-US" sz="1050" dirty="0"/>
          </a:p>
        </p:txBody>
      </p:sp>
      <p:sp>
        <p:nvSpPr>
          <p:cNvPr id="18" name="card-Reproducibility"/>
          <p:cNvSpPr/>
          <p:nvPr/>
        </p:nvSpPr>
        <p:spPr>
          <a:xfrm>
            <a:off x="603504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-head-Reproducibility"/>
          <p:cNvSpPr txBox="1"/>
          <p:nvPr/>
        </p:nvSpPr>
        <p:spPr>
          <a:xfrm>
            <a:off x="6172200" y="30358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Reproducibility</a:t>
            </a:r>
            <a:endParaRPr lang="en-US" sz="1400" dirty="0"/>
          </a:p>
        </p:txBody>
      </p:sp>
      <p:sp>
        <p:nvSpPr>
          <p:cNvPr id="20" name="card-body-Reproducibility"/>
          <p:cNvSpPr txBox="1"/>
          <p:nvPr/>
        </p:nvSpPr>
        <p:spPr>
          <a:xfrm>
            <a:off x="6172200" y="3493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Config in YAML, fixed seed, dataset register, committed small weights so any laptop runs the demo without retraining.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-circle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num"/>
          <p:cNvSpPr txBox="1"/>
          <p:nvPr/>
        </p:nvSpPr>
        <p:spPr>
          <a:xfrm>
            <a:off x="548640" y="640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7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Paper Status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Paper title, target and current status</a:t>
            </a:r>
            <a:endParaRPr lang="en-US" sz="2800" dirty="0"/>
          </a:p>
        </p:txBody>
      </p:sp>
      <p:sp>
        <p:nvSpPr>
          <p:cNvPr id="3" name="card-Title"/>
          <p:cNvSpPr/>
          <p:nvPr/>
        </p:nvSpPr>
        <p:spPr>
          <a:xfrm>
            <a:off x="457200" y="114300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d-head-Title"/>
          <p:cNvSpPr txBox="1"/>
          <p:nvPr/>
        </p:nvSpPr>
        <p:spPr>
          <a:xfrm>
            <a:off x="594360" y="12527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Title</a:t>
            </a:r>
            <a:endParaRPr lang="en-US" sz="1400" dirty="0"/>
          </a:p>
        </p:txBody>
      </p:sp>
      <p:sp>
        <p:nvSpPr>
          <p:cNvPr id="5" name="card-body-Title"/>
          <p:cNvSpPr txBox="1"/>
          <p:nvPr/>
        </p:nvSpPr>
        <p:spPr>
          <a:xfrm>
            <a:off x="594360" y="1709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AI-Based Fire and Smoke Detection System Using Deep Learning for Real-Time Emergency Monitoring</a:t>
            </a:r>
            <a:endParaRPr lang="en-US" sz="1500" dirty="0"/>
          </a:p>
        </p:txBody>
      </p:sp>
      <p:sp>
        <p:nvSpPr>
          <p:cNvPr id="6" name="card-Target"/>
          <p:cNvSpPr/>
          <p:nvPr/>
        </p:nvSpPr>
        <p:spPr>
          <a:xfrm>
            <a:off x="457200" y="242316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-head-Target"/>
          <p:cNvSpPr txBox="1"/>
          <p:nvPr/>
        </p:nvSpPr>
        <p:spPr>
          <a:xfrm>
            <a:off x="594360" y="25328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Target</a:t>
            </a:r>
            <a:endParaRPr lang="en-US" sz="1400" dirty="0"/>
          </a:p>
        </p:txBody>
      </p:sp>
      <p:sp>
        <p:nvSpPr>
          <p:cNvPr id="8" name="card-body-Target"/>
          <p:cNvSpPr txBox="1"/>
          <p:nvPr/>
        </p:nvSpPr>
        <p:spPr>
          <a:xfrm>
            <a:off x="594360" y="299008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IEEE-sponsored international conference (IEEE Xplore indexed); prepared in the IEEE conference (IEEEtran) two-column format, 7 pages.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Authors: M R Varun, M H Mayur Gowda, Kedar Lokesh Vandith; Dr. Janhavi V, Dr. Ayesha Taranum.</a:t>
            </a:r>
            <a:endParaRPr lang="en-US" sz="1200" dirty="0"/>
          </a:p>
        </p:txBody>
      </p:sp>
      <p:sp>
        <p:nvSpPr>
          <p:cNvPr id="9" name="card-Current status"/>
          <p:cNvSpPr/>
          <p:nvPr/>
        </p:nvSpPr>
        <p:spPr>
          <a:xfrm>
            <a:off x="4663440" y="242316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head-Current status"/>
          <p:cNvSpPr txBox="1"/>
          <p:nvPr/>
        </p:nvSpPr>
        <p:spPr>
          <a:xfrm>
            <a:off x="4800600" y="25328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Current status</a:t>
            </a:r>
            <a:endParaRPr lang="en-US" sz="1400" dirty="0"/>
          </a:p>
        </p:txBody>
      </p:sp>
      <p:sp>
        <p:nvSpPr>
          <p:cNvPr id="11" name="card-body-Current status"/>
          <p:cNvSpPr txBox="1"/>
          <p:nvPr/>
        </p:nvSpPr>
        <p:spPr>
          <a:xfrm>
            <a:off x="4800600" y="299008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Full draft complete with measured results, literature table (12 works), architecture/workflow figures, algorithm and 28 references.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Next: guide review → final numbers from extended training → submission.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Questions?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Repository: github.com/bhatspranav7/AI-Enabled-fire-Smoke-detection-systeem-using-Deep-learning-Emergency-Monitoring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er">
  <a:themeElements>
    <a:clrScheme name="Ember">
      <a:dk1>
        <a:srgbClr val="1B1F24"/>
      </a:dk1>
      <a:lt1>
        <a:srgbClr val="FFFFFF"/>
      </a:lt1>
      <a:dk2>
        <a:srgbClr val="4A5563"/>
      </a:dk2>
      <a:lt2>
        <a:srgbClr val="F3F4F6"/>
      </a:lt2>
      <a:accent1>
        <a:srgbClr val="E8532E"/>
      </a:accent1>
      <a:accent2>
        <a:srgbClr val="F4A226"/>
      </a:accent2>
      <a:accent3>
        <a:srgbClr val="8A8F98"/>
      </a:accent3>
      <a:accent4>
        <a:srgbClr val="2EA043"/>
      </a:accent4>
      <a:accent5>
        <a:srgbClr val="E5484D"/>
      </a:accent5>
      <a:accent6>
        <a:srgbClr val="3B82F6"/>
      </a:accent6>
      <a:hlink>
        <a:srgbClr val="E8532E"/>
      </a:hlink>
      <a:folHlink>
        <a:srgbClr val="F4A226"/>
      </a:folHlink>
    </a:clrScheme>
    <a:fontScheme name="E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Fire/Smoke Detection - Phase 2 Review</dc:title>
  <dc:subject>PptxGenJS Presentation</dc:subject>
  <dc:creator>PptxGenJS</dc:creator>
  <cp:lastModifiedBy>PptxGenJS</cp:lastModifiedBy>
  <cp:revision>1</cp:revision>
  <dcterms:created xsi:type="dcterms:W3CDTF">2026-10-12T19:50:04Z</dcterms:created>
  <dcterms:modified xsi:type="dcterms:W3CDTF">2026-10-12T19:50:04Z</dcterms:modified>
</cp:coreProperties>
</file>